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D2524A-2F1E-5138-447E-0BFA807787E3}" v="14" dt="2026-07-10T22:22:00.671"/>
    <p1510:client id="{F9E38B03-6488-132D-7E7A-0FFBDC9E4D7B}" v="33" dt="2026-07-10T22:30:03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71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Welcome the committee and introduce the project title and the RAG-powered chatbot concept.
- State the goal: build an intelligent customer support system that retrieves knowledge and generates context-aware answers.
- Introduce the six team members who contributed across data, model, backend, and deployment.
- Preview that this deck will cover problem, objectives, solution, RAG fundamentals, system architecture, and demo.
- Set expectations for an 18-slide defense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framing the cost of repetitive support tickets and agent burnout.
- Walk through the five challenges in order — volume, latency, workload, inconsistency, and rigidity of rule-based bots.
- Emphasize that traditional chatbots fail because they cannot handle diverse, open-ended queries.
- Pose the central question on the right: how to retrieve historical knowledge AND generate grounded answers.
- Transition: the next slide turns this question into concrete project objectives.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Group the eight objectives into four themes: automation (1), retrieval + generation (2, 3), agent relief (4), and platform/UX (5–7), plus cloud deployment (8).
- Stress that objectives 2 and 3 are the RAG core: retrieve historical knowledge, then generate with an LLM.
- Mention secure auth, conversation storage, and history access as the user-facing platform layer.
- Highlight objective 8 — exposing the AI as a cloud REST API — as the deployment milestone.
- Success = end-to-end automation that agents and users can both rely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Position the solution as a full-stack chatbot that wraps RAG around a complete platform.
- Name the five pillars in order: retrieval, LLM, backend, database, and cloud deployment.
- Stress that these are integrated end-to-end — not isolated modules.
- Highlight that retrieval and LLM together form the RAG core; the backend orchestrates the rest.
- Transition: next we open the RAG fundamentals block to explain how retrieval + generation actually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Define RAG as the combination of retrieval and generation working together.
- Contrast with a pure LLM: RAG grounds answers in an external knowledge base instead of relying on parametric memory.
- Walk the four-step flow top-to-bottom: question → retrieve → context to LLM → response.
- On the right, name the four benefits: external knowledge, relevance, domain specificity, and easy updates.
- Preview that the next slide shows where the knowledge base comes from — historical QA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that the knowledge source is real historical customer support conversations, not synthetic data.
- Describe the QA-pair transformation: each conversation becomes a Customer Question + Support Answer pair.
- Justify CSV as the storage format — simple, portable, and easy to regenerate when the dataset grows.
- Note that pairs are indexed at startup so retrieval can match new questions against them.
- Foreshadow the architecture slides where retrieval pulls these pairs and the LLM generates from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6 steps left-to-right, top-to-bottom: query → vectorize → search → prompt → generate → clean.
- Emphasize Top-K retrieval against the FAISS index as the core relevance mechanism.
- Highlight response post-processing as the differentiator — removes hallucinated turns, placeholders, sign-offs, leaked tokens.
- Note that the same TF-IDF + SVD pipeline used at index time is reused at query time to keep vector spaces aligned.
- Point at the bottom flow strip as the end-to-end trace a single user query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why each layer matters: TF-IDF turns text into importance-weighted vectors.
- SVD reduces dimensionality — fewer numbers per vector means less memory and faster search while preserving latent semantics.
- FAISS gives sub-linear similarity search across the stored vectors, scaling to large support corpora.
- Stress that the three are complementary: vectorize → reduce → search, in that order at index and query time.
- Note that this stack runs on CPU without GPU dependencies — practical for Azure App Service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Explain the TinyLlama-1.1B-Chat choice: small enough to run on CPU, fast enough for chat latency, open-source.
- Walk the generation config — deterministic sampling for reproducibility, 80 tokens for brevity, repetition penalty to avoid loops, 2048 max input for context window.
- Position prompt engineering as the primary quality lever — the system prompt constrains the model into chat-appropriate behavior.
- Note that the six rules map directly to common TinyLlama failure modes (long emails, fake conversation turns, placeholders).
- Stress that without these rules the model would produce verbose, off-tone responses unsuitable for live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the 5 phases in order: Auth → Message Ingest → RAG Retrieval → Generation → Delivery.
- Highlight MySQL persistence — every user and bot message is stored so conversation history is queryable.
- Point at Phase 03 as the integration point between the application backend and the RAG AI service.
- Note that step 12 lets users reopen prior conversations — full session continuity, not single-shot Q&amp;A.
- Stress that this is one synchronous request lifecycle: from login state to a written answer in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Name the 7 layers in order: Frontend, FastAPI REST API, Authentication, Application Services, RAG AI Service, Data Layer, Cloud Deployment.
- Emphasize separation of concerns — each layer has a single responsibility and can evolve independently.
- Point at Layer 5 (RAG AI Service) as the intelligence layer — Retriever → Generator → Response Processing.
- Note the dual data stores in Layer 6: MySQL for relational state, FAISS for vector similarity.
- Mention Azure App Service as the deployment target — single-host deployment suitable for the compact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FastAPI exposes REST endpoints; SQLAlchemy is the ORM; MySQL stores users, conversations, messages.
 - JWT protects endpoints and identifies users; bcrypt hashes passwords before they ever hit the database.
 - Layered design routes requests through Routers → Services → Repositories → Models → Database.
 - Each layer has a single responsibility, which eases testing and future changes.
 - This separation is what keeps the codebase maintainable as features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REST endpoints: GET /health for service liveness, POST /query for chat interactions.
 - Azure App Service hosts the API and exposes it remotely to the frontend.
 - Five cloud benefits: remote access, integration, centralization, easier testing, scaling foundation.
 - Screenshot placeholder on the right must be replaced with a real Azure portal capture before the defense.
 - Cloud deployment is the foundation for future monitoring and horizontal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Challenge 1: efficient retrieval — solved with TF-IDF/SVD vector representations plus FAISS similarity search.
 - Challenge 2: response quality — solved with prompt engineering and a custom post-processing pipeline.
 - Challenge 3: integration — the RAG pipeline plugs into the FastAPI backend via the Chat Service.
 - Challenge 4: history persistence — conversations and messages persist in MySQL through SQLAlchemy models and repositories.
 - Each card emphasizes the engineering trade-off and the concrete shipped 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Celebrate the eight functional wins: full retrieval pipeline, FAISS search, TinyLlama generation, post-processing, FastAPI integration, auth, history, cloud.
 - Be honest that BLEU, ROUGE, precision/recall, latency, and CSAT metrics are still pending.
 - Frame the missing metrics as future work, not a blocker for the current contribution.
 - Current results are demonstrated through functional system testing and end-to-end integration.
 - Application integration itself is a strong, defensible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Be candid about the six current limitations, from TF-IDF retrieval to limited production monitoring.
 - Group the future roadmap into three buckets: Retrieval, Evaluation &amp; Ops, and Scaling.
 - Retrieval upgrades: Sentence Transformers, embedding model evaluation, multi-document grounding.
 - Evaluation &amp; Ops: precision/recall/MRR/hit-rate, RAG response eval, MLflow, monitoring, user feedback.
 - Scaling: automated knowledge updates, CI/CD, and a stronger Azure architecture — the maturity journey from prototype to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Recap the six engineering pillars: information retrieval, vector search, large language models, backend, database, cloud.
 - Walk the live demo flow: Login → Start Conversation → Ask Question → RAG Retrieval → AI Response → Conversation History.
 - Invite the committee to follow along with the live demonstration.
 - Open the floor for questions and discussion.
 - Thank the committee and supervisors for their time and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91753"/>
          </a:xfrm>
          <a:prstGeom prst="roundRect">
            <a:avLst>
              <a:gd name="adj" fmla="val 996589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43100" y="2349178"/>
            <a:ext cx="3714750" cy="91753"/>
          </a:xfrm>
          <a:prstGeom prst="roundRect">
            <a:avLst>
              <a:gd name="adj" fmla="val 996589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8422" y="614340"/>
            <a:ext cx="1829293" cy="171282"/>
          </a:xfrm>
          <a:prstGeom prst="roundRect">
            <a:avLst>
              <a:gd name="adj" fmla="val 522351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28663" y="626418"/>
            <a:ext cx="6752072" cy="13965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GRADUATION PROJECT ·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495022" y="619274"/>
            <a:ext cx="14060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· LLM · FULL-STACK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1172914"/>
            <a:ext cx="5871861" cy="915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39"/>
              </a:lnSpc>
              <a:buNone/>
            </a:pPr>
            <a:r>
              <a:rPr lang="en-US" sz="3150" b="1" kern="0" spc="-79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Support</a:t>
            </a:r>
            <a:endParaRPr lang="en-US" sz="3150" dirty="0"/>
          </a:p>
          <a:p>
            <a:pPr marL="0" indent="0" algn="l">
              <a:lnSpc>
                <a:spcPts val="3339"/>
              </a:lnSpc>
              <a:buNone/>
            </a:pPr>
            <a:r>
              <a:rPr lang="en-US" sz="3150" b="1" kern="0" spc="-79" dirty="0">
                <a:solidFill>
                  <a:srgbClr val="4F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RAG-Powered</a:t>
            </a:r>
            <a:r>
              <a:rPr lang="en-US" sz="3150" b="1" kern="0" spc="-79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Intelligent Chatbot</a:t>
            </a:r>
            <a:endParaRPr lang="en-US" sz="3150" dirty="0"/>
          </a:p>
        </p:txBody>
      </p:sp>
      <p:sp>
        <p:nvSpPr>
          <p:cNvPr id="9" name="Text 7"/>
          <p:cNvSpPr/>
          <p:nvPr/>
        </p:nvSpPr>
        <p:spPr>
          <a:xfrm>
            <a:off x="514350" y="2178174"/>
            <a:ext cx="371542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33"/>
              </a:lnSpc>
              <a:buNone/>
            </a:pPr>
            <a:r>
              <a:rPr lang="en-US" sz="1238" kern="0" spc="-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Building an Intelligent Customer Support System Using</a:t>
            </a:r>
            <a:endParaRPr lang="en-US" sz="1238" dirty="0"/>
          </a:p>
          <a:p>
            <a:pPr marL="0" indent="0" algn="l">
              <a:lnSpc>
                <a:spcPts val="1733"/>
              </a:lnSpc>
              <a:buNone/>
            </a:pPr>
            <a:r>
              <a:rPr lang="en-US" sz="1238" kern="0" spc="-6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Retrieval-Augmented Generation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514350" y="2818209"/>
            <a:ext cx="428625" cy="14288"/>
          </a:xfrm>
          <a:prstGeom prst="roundRect">
            <a:avLst>
              <a:gd name="adj" fmla="val 133329"/>
            </a:avLst>
          </a:prstGeom>
          <a:solidFill>
            <a:srgbClr val="4FD1FF"/>
          </a:solidFill>
          <a:ln/>
          <a:effectLst>
            <a:outerShdw blurRad="13335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3175397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36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MEMBERS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922" y="3425428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794" y="3557588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Khaled Mahmoud</a:t>
            </a:r>
            <a:endParaRPr lang="en-US" sz="956" dirty="0"/>
          </a:p>
        </p:txBody>
      </p:sp>
      <p:sp>
        <p:nvSpPr>
          <p:cNvPr id="14" name="Text 12"/>
          <p:cNvSpPr/>
          <p:nvPr/>
        </p:nvSpPr>
        <p:spPr>
          <a:xfrm>
            <a:off x="635794" y="3782616"/>
            <a:ext cx="2386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844"/>
              </a:lnSpc>
            </a:pPr>
            <a:r>
              <a:rPr lang="en-US" sz="800" kern="0" spc="90">
                <a:solidFill>
                  <a:srgbClr val="64748B"/>
                </a:solidFill>
                <a:latin typeface="Courier New"/>
                <a:cs typeface="Courier New"/>
              </a:rPr>
              <a:t>Team leader</a:t>
            </a:r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61122" y="3425428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78994" y="3557588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Khaled Mohammed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3378994" y="3782616"/>
            <a:ext cx="2386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04322" y="3425428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22194" y="3557588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Mohammed Basel</a:t>
            </a:r>
            <a:endParaRPr lang="en-US" sz="956" dirty="0"/>
          </a:p>
        </p:txBody>
      </p:sp>
      <p:sp>
        <p:nvSpPr>
          <p:cNvPr id="20" name="Text 18"/>
          <p:cNvSpPr/>
          <p:nvPr/>
        </p:nvSpPr>
        <p:spPr>
          <a:xfrm>
            <a:off x="6122194" y="3782616"/>
            <a:ext cx="238601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4143375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4275534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Ziad Mohammed</a:t>
            </a:r>
            <a:endParaRPr lang="en-US" sz="956" dirty="0"/>
          </a:p>
        </p:txBody>
      </p:sp>
      <p:sp>
        <p:nvSpPr>
          <p:cNvPr id="23" name="Text 21"/>
          <p:cNvSpPr/>
          <p:nvPr/>
        </p:nvSpPr>
        <p:spPr>
          <a:xfrm>
            <a:off x="635794" y="4500563"/>
            <a:ext cx="2386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61122" y="4143375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78994" y="4275534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Rana Alaa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3378994" y="4500563"/>
            <a:ext cx="238601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04322" y="4143375"/>
            <a:ext cx="2621756" cy="596503"/>
          </a:xfrm>
          <a:prstGeom prst="roundRect">
            <a:avLst>
              <a:gd name="adj" fmla="val 2235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22194" y="4275534"/>
            <a:ext cx="238601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34"/>
              </a:lnSpc>
              <a:buNone/>
            </a:pPr>
            <a:r>
              <a:rPr lang="en-US" sz="956" kern="0" spc="-1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Farah Mostafa</a:t>
            </a:r>
            <a:endParaRPr lang="en-US" sz="956" dirty="0"/>
          </a:p>
        </p:txBody>
      </p:sp>
      <p:sp>
        <p:nvSpPr>
          <p:cNvPr id="29" name="Text 27"/>
          <p:cNvSpPr/>
          <p:nvPr/>
        </p:nvSpPr>
        <p:spPr>
          <a:xfrm>
            <a:off x="6122194" y="4500563"/>
            <a:ext cx="238601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4350" y="4854178"/>
            <a:ext cx="13911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 / DEFENSE DECK</a:t>
            </a:r>
            <a:endParaRPr lang="en-US" sz="619" dirty="0"/>
          </a:p>
        </p:txBody>
      </p:sp>
      <p:sp>
        <p:nvSpPr>
          <p:cNvPr id="31" name="Text 29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2944" y="2123815"/>
            <a:ext cx="4443413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92944" y="2768873"/>
            <a:ext cx="4443413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2944" y="3413931"/>
            <a:ext cx="4443413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92944" y="4058989"/>
            <a:ext cx="4443413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INTRODUCTION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603647"/>
            <a:ext cx="86296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Problem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514350" y="1017984"/>
            <a:ext cx="514350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customer support systems face several challenges.</a:t>
            </a:r>
            <a:endParaRPr lang="en-US" sz="844" dirty="0"/>
          </a:p>
        </p:txBody>
      </p:sp>
      <p:sp>
        <p:nvSpPr>
          <p:cNvPr id="9" name="Text 7"/>
          <p:cNvSpPr/>
          <p:nvPr/>
        </p:nvSpPr>
        <p:spPr>
          <a:xfrm>
            <a:off x="517922" y="1393031"/>
            <a:ext cx="4793456" cy="3396742"/>
          </a:xfrm>
          <a:prstGeom prst="roundRect">
            <a:avLst>
              <a:gd name="adj" fmla="val 3926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6516" y="1585913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2234" y="162163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1078661" y="1589484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92994" y="1703784"/>
            <a:ext cx="4153091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 volumes of repetitive customer questions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2994" y="1880927"/>
            <a:ext cx="40433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Same inquiries arrive repeatedly, consuming agent time.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6516" y="2230971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2234" y="2266690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7" name="Text 15"/>
          <p:cNvSpPr/>
          <p:nvPr/>
        </p:nvSpPr>
        <p:spPr>
          <a:xfrm>
            <a:off x="1078661" y="2234543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92994" y="2348843"/>
            <a:ext cx="4153091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Slow response times during peak periods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2994" y="2525985"/>
            <a:ext cx="41530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Wait times spike when query volume surges.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6516" y="2876029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2234" y="291174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78661" y="2879601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92994" y="2993901"/>
            <a:ext cx="4153091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 workload on customer support agents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2994" y="3171044"/>
            <a:ext cx="4153091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Agents handle more tickets than they can sustain.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6516" y="3521087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32234" y="3556806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27" name="Text 25"/>
          <p:cNvSpPr/>
          <p:nvPr/>
        </p:nvSpPr>
        <p:spPr>
          <a:xfrm>
            <a:off x="1078661" y="3524659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92994" y="3638959"/>
            <a:ext cx="4153091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Difficulty maintaining consistent responses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2994" y="3816102"/>
            <a:ext cx="4043363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Different agents answer the same question differently.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6516" y="4166146"/>
            <a:ext cx="278606" cy="278606"/>
          </a:xfrm>
          <a:prstGeom prst="roundRect">
            <a:avLst>
              <a:gd name="adj" fmla="val 34188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32234" y="42018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1078661" y="4169718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0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2994" y="4284018"/>
            <a:ext cx="4043363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Traditional chatbots provide predefined answers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2994" y="4461160"/>
            <a:ext cx="40433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Rule-based bots cannot handle diverse customer queries effectively.</a:t>
            </a:r>
            <a:endParaRPr lang="en-US" sz="800" dirty="0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89459"/>
            <a:ext cx="3143250" cy="340388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5489972" y="1393031"/>
            <a:ext cx="3136106" cy="3396742"/>
          </a:xfrm>
          <a:prstGeom prst="roundRect">
            <a:avLst>
              <a:gd name="adj" fmla="val 4252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650706" y="1539478"/>
            <a:ext cx="28146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650706" y="1765176"/>
            <a:ext cx="18573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2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828" dirty="0"/>
          </a:p>
        </p:txBody>
      </p:sp>
      <p:sp>
        <p:nvSpPr>
          <p:cNvPr id="39" name="Text 36"/>
          <p:cNvSpPr/>
          <p:nvPr/>
        </p:nvSpPr>
        <p:spPr>
          <a:xfrm>
            <a:off x="5922169" y="1746647"/>
            <a:ext cx="254317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Challenge</a:t>
            </a:r>
            <a:endParaRPr lang="en-US" sz="1463" dirty="0"/>
          </a:p>
        </p:txBody>
      </p:sp>
      <p:sp>
        <p:nvSpPr>
          <p:cNvPr id="40" name="Text 37"/>
          <p:cNvSpPr/>
          <p:nvPr/>
        </p:nvSpPr>
        <p:spPr>
          <a:xfrm>
            <a:off x="5650706" y="2069455"/>
            <a:ext cx="257175" cy="14288"/>
          </a:xfrm>
          <a:prstGeom prst="roundRect">
            <a:avLst>
              <a:gd name="adj" fmla="val 133329"/>
            </a:avLst>
          </a:prstGeom>
          <a:solidFill>
            <a:srgbClr val="4FD1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5650706" y="2183755"/>
            <a:ext cx="2814638" cy="879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kern="0" spc="-5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can we build an intelligent customer support system that retrieves relevant historical knowledge and generates short, context-aware responses automatically?</a:t>
            </a:r>
            <a:endParaRPr lang="en-US" sz="1069" dirty="0"/>
          </a:p>
        </p:txBody>
      </p:sp>
      <p:sp>
        <p:nvSpPr>
          <p:cNvPr id="42" name="Text 39"/>
          <p:cNvSpPr/>
          <p:nvPr/>
        </p:nvSpPr>
        <p:spPr>
          <a:xfrm>
            <a:off x="5650706" y="4527240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125" dirty="0"/>
          </a:p>
        </p:txBody>
      </p:sp>
      <p:sp>
        <p:nvSpPr>
          <p:cNvPr id="43" name="Text 40"/>
          <p:cNvSpPr/>
          <p:nvPr/>
        </p:nvSpPr>
        <p:spPr>
          <a:xfrm>
            <a:off x="5822156" y="4525454"/>
            <a:ext cx="2643188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ANSWERED BY RAG →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14350" y="4854178"/>
            <a:ext cx="677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</a:t>
            </a:r>
            <a:endParaRPr lang="en-US" sz="619" dirty="0"/>
          </a:p>
        </p:txBody>
      </p:sp>
      <p:sp>
        <p:nvSpPr>
          <p:cNvPr id="45" name="Text 42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1114425"/>
          </a:xfrm>
          <a:prstGeom prst="roundRect">
            <a:avLst>
              <a:gd name="adj" fmla="val 82051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5991" y="744664"/>
            <a:ext cx="34125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5991" y="948261"/>
            <a:ext cx="2579268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Objectives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5991" y="1362599"/>
            <a:ext cx="245644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project aims to deliver the following capabilities.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8326701" y="1141143"/>
            <a:ext cx="466310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8125516" y="1426893"/>
            <a:ext cx="6308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10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OBJECTIVES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54569" y="1957602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57762" y="2061186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90301" y="209333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1732" y="21147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686729" y="2418374"/>
            <a:ext cx="1671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 Responses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86729" y="2623756"/>
            <a:ext cx="177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Automate customer support responses.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611969" y="1957602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15162" y="2061186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747701" y="209333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69132" y="21147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2744129" y="2418374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 Knowledge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2744129" y="2623756"/>
            <a:ext cx="1671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 relevant information from historical customer support conversations.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9369" y="1957602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72562" y="2061186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805101" y="209333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26532" y="21147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24" name="Text 22"/>
          <p:cNvSpPr/>
          <p:nvPr/>
        </p:nvSpPr>
        <p:spPr>
          <a:xfrm>
            <a:off x="4801529" y="2418374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with LLM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4801529" y="2623756"/>
            <a:ext cx="1671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context-aware responses using a Large Language Model.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26769" y="1957602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429962" y="2061186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862501" y="209333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83932" y="211476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406" dirty="0"/>
          </a:p>
        </p:txBody>
      </p:sp>
      <p:sp>
        <p:nvSpPr>
          <p:cNvPr id="30" name="Text 28"/>
          <p:cNvSpPr/>
          <p:nvPr/>
        </p:nvSpPr>
        <p:spPr>
          <a:xfrm>
            <a:off x="6858929" y="2418374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 Workload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6858929" y="2623756"/>
            <a:ext cx="1671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 repetitive workload on customer support agents.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4569" y="3134535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257762" y="3238119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90301" y="32702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11732" y="32916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36" name="Text 34"/>
          <p:cNvSpPr/>
          <p:nvPr/>
        </p:nvSpPr>
        <p:spPr>
          <a:xfrm>
            <a:off x="686729" y="3595306"/>
            <a:ext cx="167163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Auth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686729" y="3800690"/>
            <a:ext cx="177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 secure user authentication.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2611969" y="3134535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15162" y="3238119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747701" y="32702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769132" y="32916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1406" dirty="0"/>
          </a:p>
        </p:txBody>
      </p:sp>
      <p:sp>
        <p:nvSpPr>
          <p:cNvPr id="42" name="Text 40"/>
          <p:cNvSpPr/>
          <p:nvPr/>
        </p:nvSpPr>
        <p:spPr>
          <a:xfrm>
            <a:off x="2744129" y="3595306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Conversations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2744129" y="3800690"/>
            <a:ext cx="1771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 conversations and messages.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4669369" y="3134535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372562" y="3238119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05101" y="32702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826532" y="32916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48" name="Text 46"/>
          <p:cNvSpPr/>
          <p:nvPr/>
        </p:nvSpPr>
        <p:spPr>
          <a:xfrm>
            <a:off x="4801529" y="3595306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Access History</a:t>
            </a:r>
            <a:endParaRPr lang="en-US" sz="844" dirty="0"/>
          </a:p>
        </p:txBody>
      </p:sp>
      <p:sp>
        <p:nvSpPr>
          <p:cNvPr id="49" name="Text 47"/>
          <p:cNvSpPr/>
          <p:nvPr/>
        </p:nvSpPr>
        <p:spPr>
          <a:xfrm>
            <a:off x="4801529" y="3800690"/>
            <a:ext cx="1671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Allow users to access their conversation history.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726769" y="3134535"/>
            <a:ext cx="1935956" cy="1055489"/>
          </a:xfrm>
          <a:prstGeom prst="roundRect">
            <a:avLst>
              <a:gd name="adj" fmla="val 12634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429962" y="3238119"/>
            <a:ext cx="138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kern="0" spc="79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862501" y="327026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83932" y="32916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54" name="Text 52"/>
          <p:cNvSpPr/>
          <p:nvPr/>
        </p:nvSpPr>
        <p:spPr>
          <a:xfrm>
            <a:off x="6858929" y="3595306"/>
            <a:ext cx="1671637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REST API</a:t>
            </a:r>
            <a:endParaRPr lang="en-US" sz="844" dirty="0"/>
          </a:p>
        </p:txBody>
      </p:sp>
      <p:sp>
        <p:nvSpPr>
          <p:cNvPr id="55" name="Text 53"/>
          <p:cNvSpPr/>
          <p:nvPr/>
        </p:nvSpPr>
        <p:spPr>
          <a:xfrm>
            <a:off x="6858929" y="3800690"/>
            <a:ext cx="167163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Deploy the AI service as a REST API accessible through the cloud.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14350" y="4854178"/>
            <a:ext cx="677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</a:t>
            </a:r>
            <a:endParaRPr lang="en-US" sz="619" dirty="0"/>
          </a:p>
        </p:txBody>
      </p:sp>
      <p:sp>
        <p:nvSpPr>
          <p:cNvPr id="57" name="Text 55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801" y="3347918"/>
            <a:ext cx="1311548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330961" y="3347918"/>
            <a:ext cx="1311548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971121" y="3347918"/>
            <a:ext cx="1311659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11393" y="3347918"/>
            <a:ext cx="1311548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251554" y="3347918"/>
            <a:ext cx="1311659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-771525" y="-1314450"/>
            <a:ext cx="3714750" cy="701092"/>
          </a:xfrm>
          <a:prstGeom prst="roundRect">
            <a:avLst>
              <a:gd name="adj" fmla="val 130425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43100" y="2958517"/>
            <a:ext cx="3714750" cy="701092"/>
          </a:xfrm>
          <a:prstGeom prst="roundRect">
            <a:avLst>
              <a:gd name="adj" fmla="val 130425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78501" y="684166"/>
            <a:ext cx="85654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— INTRODUCTION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8501" y="887763"/>
            <a:ext cx="8565499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Solution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578501" y="1302100"/>
            <a:ext cx="6429375" cy="406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2"/>
              </a:lnSpc>
              <a:buNone/>
            </a:pPr>
            <a:r>
              <a:rPr lang="en-US" sz="956" kern="0" spc="-5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developed a </a:t>
            </a:r>
            <a:r>
              <a:rPr lang="en-US" sz="956" kern="0" spc="-5" dirty="0">
                <a:solidFill>
                  <a:srgbClr val="4F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Full-Stack Customer Support Chatbot</a:t>
            </a:r>
            <a:r>
              <a:rPr lang="en-US" sz="956" kern="0" spc="-5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powered by Retrieval-Augmented Generation (RAG). The system combines five integrated components: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72929" y="2093967"/>
            <a:ext cx="1547292" cy="1568277"/>
          </a:xfrm>
          <a:prstGeom prst="roundRect">
            <a:avLst>
              <a:gd name="adj" fmla="val 861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90432" y="21832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19" dirty="0"/>
          </a:p>
        </p:txBody>
      </p:sp>
      <p:sp>
        <p:nvSpPr>
          <p:cNvPr id="14" name="Text 12"/>
          <p:cNvSpPr/>
          <p:nvPr/>
        </p:nvSpPr>
        <p:spPr>
          <a:xfrm>
            <a:off x="694372" y="224398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662" y="22732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690801" y="2640464"/>
            <a:ext cx="131154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Information Retrieval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690801" y="2860134"/>
            <a:ext cx="1390241" cy="45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Retrieves similar customer support questions from the knowledge base.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0801" y="3344347"/>
            <a:ext cx="1311548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213089" y="2093967"/>
            <a:ext cx="1547292" cy="1568277"/>
          </a:xfrm>
          <a:prstGeom prst="roundRect">
            <a:avLst>
              <a:gd name="adj" fmla="val 861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530592" y="21832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19" dirty="0"/>
          </a:p>
        </p:txBody>
      </p:sp>
      <p:sp>
        <p:nvSpPr>
          <p:cNvPr id="21" name="Text 19"/>
          <p:cNvSpPr/>
          <p:nvPr/>
        </p:nvSpPr>
        <p:spPr>
          <a:xfrm>
            <a:off x="2334533" y="224398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363822" y="22732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330961" y="2640464"/>
            <a:ext cx="131154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 Language Model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2330961" y="2860134"/>
            <a:ext cx="1390241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Generates natural customer support responses.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30961" y="3344347"/>
            <a:ext cx="1311548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53250" y="2093967"/>
            <a:ext cx="1547403" cy="1568277"/>
          </a:xfrm>
          <a:prstGeom prst="roundRect">
            <a:avLst>
              <a:gd name="adj" fmla="val 861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170864" y="21832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3974693" y="224398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03983" y="22732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0" name="Text 28"/>
          <p:cNvSpPr/>
          <p:nvPr/>
        </p:nvSpPr>
        <p:spPr>
          <a:xfrm>
            <a:off x="3971121" y="2640464"/>
            <a:ext cx="13116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Application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3971121" y="2860134"/>
            <a:ext cx="1390359" cy="456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Manages users, conversations, messages, and AI system communication.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971121" y="3344347"/>
            <a:ext cx="1311659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93522" y="2093967"/>
            <a:ext cx="1547292" cy="1568277"/>
          </a:xfrm>
          <a:prstGeom prst="roundRect">
            <a:avLst>
              <a:gd name="adj" fmla="val 861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11025" y="21832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19" dirty="0"/>
          </a:p>
        </p:txBody>
      </p:sp>
      <p:sp>
        <p:nvSpPr>
          <p:cNvPr id="35" name="Text 33"/>
          <p:cNvSpPr/>
          <p:nvPr/>
        </p:nvSpPr>
        <p:spPr>
          <a:xfrm>
            <a:off x="5614965" y="224398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44255" y="22732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5611393" y="2640464"/>
            <a:ext cx="1311548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</a:t>
            </a:r>
            <a:endParaRPr lang="en-US" sz="844" dirty="0"/>
          </a:p>
        </p:txBody>
      </p:sp>
      <p:sp>
        <p:nvSpPr>
          <p:cNvPr id="38" name="Text 36"/>
          <p:cNvSpPr/>
          <p:nvPr/>
        </p:nvSpPr>
        <p:spPr>
          <a:xfrm>
            <a:off x="5611393" y="2860134"/>
            <a:ext cx="1390241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Stores user accounts and conversation history.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611393" y="3344347"/>
            <a:ext cx="1311548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STORAGE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33682" y="2093967"/>
            <a:ext cx="1547403" cy="1568277"/>
          </a:xfrm>
          <a:prstGeom prst="roundRect">
            <a:avLst>
              <a:gd name="adj" fmla="val 861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451296" y="2183264"/>
            <a:ext cx="142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19" dirty="0"/>
          </a:p>
        </p:txBody>
      </p:sp>
      <p:sp>
        <p:nvSpPr>
          <p:cNvPr id="42" name="Text 40"/>
          <p:cNvSpPr/>
          <p:nvPr/>
        </p:nvSpPr>
        <p:spPr>
          <a:xfrm>
            <a:off x="7255126" y="2243986"/>
            <a:ext cx="307181" cy="307181"/>
          </a:xfrm>
          <a:prstGeom prst="roundRect">
            <a:avLst>
              <a:gd name="adj" fmla="val 37209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284415" y="2273275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44" name="Text 42"/>
          <p:cNvSpPr/>
          <p:nvPr/>
        </p:nvSpPr>
        <p:spPr>
          <a:xfrm>
            <a:off x="7251554" y="2640464"/>
            <a:ext cx="1311659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44" kern="0" spc="-8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Deployment</a:t>
            </a:r>
            <a:endParaRPr lang="en-US" sz="844" dirty="0"/>
          </a:p>
        </p:txBody>
      </p:sp>
      <p:sp>
        <p:nvSpPr>
          <p:cNvPr id="45" name="Text 43"/>
          <p:cNvSpPr/>
          <p:nvPr/>
        </p:nvSpPr>
        <p:spPr>
          <a:xfrm>
            <a:off x="7251554" y="2860134"/>
            <a:ext cx="1390359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Exposes the AI service through a REST API.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251554" y="3344347"/>
            <a:ext cx="1311659" cy="171450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85800" y="4686300"/>
            <a:ext cx="57150" cy="57150"/>
          </a:xfrm>
          <a:prstGeom prst="ellipse">
            <a:avLst/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4711303"/>
            <a:ext cx="1785938" cy="7144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2614613" y="4686300"/>
            <a:ext cx="57150" cy="57150"/>
          </a:xfrm>
          <a:prstGeom prst="ellipse">
            <a:avLst/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4625" y="4711303"/>
            <a:ext cx="1785938" cy="7144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4543425" y="4686300"/>
            <a:ext cx="57150" cy="57150"/>
          </a:xfrm>
          <a:prstGeom prst="ellipse">
            <a:avLst/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8" y="4711303"/>
            <a:ext cx="1785938" cy="7144"/>
          </a:xfrm>
          <a:prstGeom prst="rect">
            <a:avLst/>
          </a:prstGeom>
        </p:spPr>
      </p:pic>
      <p:sp>
        <p:nvSpPr>
          <p:cNvPr id="53" name="Text 48"/>
          <p:cNvSpPr/>
          <p:nvPr/>
        </p:nvSpPr>
        <p:spPr>
          <a:xfrm>
            <a:off x="6472238" y="4686300"/>
            <a:ext cx="57150" cy="57150"/>
          </a:xfrm>
          <a:prstGeom prst="ellipse">
            <a:avLst/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4711303"/>
            <a:ext cx="1785938" cy="7144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8401050" y="4686300"/>
            <a:ext cx="57150" cy="57150"/>
          </a:xfrm>
          <a:prstGeom prst="ellipse">
            <a:avLst/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0"/>
          <p:cNvSpPr/>
          <p:nvPr/>
        </p:nvSpPr>
        <p:spPr>
          <a:xfrm>
            <a:off x="514350" y="4854178"/>
            <a:ext cx="677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</a:t>
            </a:r>
            <a:endParaRPr lang="en-US" sz="619" dirty="0"/>
          </a:p>
        </p:txBody>
      </p:sp>
      <p:sp>
        <p:nvSpPr>
          <p:cNvPr id="57" name="Text 51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872877"/>
          </a:xfrm>
          <a:prstGeom prst="roundRect">
            <a:avLst>
              <a:gd name="adj" fmla="val 104757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95991" y="695569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— RAG FOUNDATIONS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5991" y="899166"/>
            <a:ext cx="8636000" cy="35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Retrieval-Augmented Generation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495991" y="1313503"/>
            <a:ext cx="58578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combines two main components to produce grounded, context-aware answers.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490418" y="1793421"/>
            <a:ext cx="3124609" cy="964741"/>
          </a:xfrm>
          <a:prstGeom prst="roundRect">
            <a:avLst>
              <a:gd name="adj" fmla="val 13822"/>
            </a:avLst>
          </a:prstGeom>
          <a:solidFill>
            <a:srgbClr val="111A2E"/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9883" y="1899934"/>
            <a:ext cx="612760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3995" y="1911292"/>
            <a:ext cx="70453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354281" y="194165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266" dirty="0"/>
          </a:p>
        </p:txBody>
      </p:sp>
      <p:sp>
        <p:nvSpPr>
          <p:cNvPr id="10" name="Text 8"/>
          <p:cNvSpPr/>
          <p:nvPr/>
        </p:nvSpPr>
        <p:spPr>
          <a:xfrm>
            <a:off x="622578" y="2157752"/>
            <a:ext cx="2860291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 the Knowledge Base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2578" y="2363469"/>
            <a:ext cx="286029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Searches a knowledge base to find information relevant to the user question.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0418" y="2879605"/>
            <a:ext cx="3124609" cy="964741"/>
          </a:xfrm>
          <a:prstGeom prst="roundRect">
            <a:avLst>
              <a:gd name="adj" fmla="val 13822"/>
            </a:avLst>
          </a:prstGeom>
          <a:solidFill>
            <a:srgbClr val="111A2E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9718" y="2986119"/>
            <a:ext cx="658743" cy="212027"/>
          </a:xfrm>
          <a:prstGeom prst="roundRect">
            <a:avLst>
              <a:gd name="adj" fmla="val 4487860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9657" y="2997477"/>
            <a:ext cx="77886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54281" y="302783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622578" y="3243937"/>
            <a:ext cx="2860291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the Response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22578" y="3449654"/>
            <a:ext cx="286029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a Language Model to generate the final response using the retrieved context.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761475" y="1789849"/>
            <a:ext cx="195738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BASIC FLOW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65047" y="1972014"/>
            <a:ext cx="1950244" cy="411324"/>
          </a:xfrm>
          <a:prstGeom prst="roundRect">
            <a:avLst>
              <a:gd name="adj" fmla="val 2315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55710" y="2166235"/>
            <a:ext cx="768916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Question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3868631" y="2061311"/>
            <a:ext cx="1743075" cy="142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8"/>
              </a:lnSpc>
              <a:buNone/>
            </a:pPr>
            <a:r>
              <a:rPr lang="en-US" sz="800" kern="0" spc="8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83019" y="243691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65047" y="2604794"/>
            <a:ext cx="1950244" cy="411324"/>
          </a:xfrm>
          <a:prstGeom prst="roundRect">
            <a:avLst>
              <a:gd name="adj" fmla="val 2315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53153" y="2799015"/>
            <a:ext cx="1173919" cy="143490"/>
          </a:xfrm>
          <a:prstGeom prst="rect">
            <a:avLst/>
          </a:prstGeom>
          <a:noFill/>
          <a:ln/>
        </p:spPr>
        <p:txBody>
          <a:bodyPr wrap="square" lIns="100013" tIns="85725" rIns="100013" bIns="85725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 Relevant Knowledge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3868631" y="2694091"/>
            <a:ext cx="1743075" cy="142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8"/>
              </a:lnSpc>
              <a:buNone/>
            </a:pPr>
            <a:r>
              <a:rPr lang="en-US" sz="800" kern="0" spc="8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83019" y="306969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765047" y="3237574"/>
            <a:ext cx="1950244" cy="411324"/>
          </a:xfrm>
          <a:prstGeom prst="roundRect">
            <a:avLst>
              <a:gd name="adj" fmla="val 2315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193895" y="3431795"/>
            <a:ext cx="1092547" cy="143490"/>
          </a:xfrm>
          <a:prstGeom prst="rect">
            <a:avLst/>
          </a:prstGeom>
          <a:noFill/>
          <a:ln/>
        </p:spPr>
        <p:txBody>
          <a:bodyPr wrap="none" lIns="100013" tIns="85725" rIns="100013" bIns="85725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 Context to the LLM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3868631" y="3326871"/>
            <a:ext cx="1743075" cy="142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8"/>
              </a:lnSpc>
              <a:buNone/>
            </a:pPr>
            <a:r>
              <a:rPr lang="en-US" sz="800" kern="0" spc="8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83019" y="3702476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65047" y="3870354"/>
            <a:ext cx="1950244" cy="411324"/>
          </a:xfrm>
          <a:prstGeom prst="roundRect">
            <a:avLst>
              <a:gd name="adj" fmla="val 2315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338667" y="4064575"/>
            <a:ext cx="803002" cy="143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Response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3868631" y="3959651"/>
            <a:ext cx="1743075" cy="142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58"/>
              </a:lnSpc>
              <a:buNone/>
            </a:pPr>
            <a:r>
              <a:rPr lang="en-US" sz="800" kern="0" spc="81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STEP 04</a:t>
            </a:r>
            <a:endParaRPr lang="en-US" sz="800" dirty="0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737" y="1789849"/>
            <a:ext cx="2740409" cy="2495401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865309" y="1793421"/>
            <a:ext cx="2733266" cy="2488257"/>
          </a:xfrm>
          <a:prstGeom prst="roundRect">
            <a:avLst>
              <a:gd name="adj" fmla="val 5359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026044" y="19726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547" dirty="0"/>
          </a:p>
        </p:txBody>
      </p:sp>
      <p:sp>
        <p:nvSpPr>
          <p:cNvPr id="37" name="Text 34"/>
          <p:cNvSpPr/>
          <p:nvPr/>
        </p:nvSpPr>
        <p:spPr>
          <a:xfrm>
            <a:off x="6268931" y="1939867"/>
            <a:ext cx="2168909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RAG?</a:t>
            </a:r>
            <a:endParaRPr lang="en-US" sz="1463" dirty="0"/>
          </a:p>
        </p:txBody>
      </p:sp>
      <p:sp>
        <p:nvSpPr>
          <p:cNvPr id="38" name="Text 35"/>
          <p:cNvSpPr/>
          <p:nvPr/>
        </p:nvSpPr>
        <p:spPr>
          <a:xfrm>
            <a:off x="6026044" y="2262676"/>
            <a:ext cx="228600" cy="14288"/>
          </a:xfrm>
          <a:prstGeom prst="roundRect">
            <a:avLst>
              <a:gd name="adj" fmla="val 133329"/>
            </a:avLst>
          </a:prstGeom>
          <a:solidFill>
            <a:srgbClr val="4FD1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026044" y="2384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7"/>
          <p:cNvSpPr/>
          <p:nvPr/>
        </p:nvSpPr>
        <p:spPr>
          <a:xfrm>
            <a:off x="6226069" y="2376976"/>
            <a:ext cx="22117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Uses external knowledge.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26044" y="26145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2" name="Text 39"/>
          <p:cNvSpPr/>
          <p:nvPr/>
        </p:nvSpPr>
        <p:spPr>
          <a:xfrm>
            <a:off x="6226069" y="2607361"/>
            <a:ext cx="221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Improves response relevance.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6026044" y="284489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4" name="Text 41"/>
          <p:cNvSpPr/>
          <p:nvPr/>
        </p:nvSpPr>
        <p:spPr>
          <a:xfrm>
            <a:off x="6226069" y="2837747"/>
            <a:ext cx="22117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Provides domain-specific information.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026044" y="307527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66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6" name="Text 43"/>
          <p:cNvSpPr/>
          <p:nvPr/>
        </p:nvSpPr>
        <p:spPr>
          <a:xfrm>
            <a:off x="6226069" y="3068133"/>
            <a:ext cx="231324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Easier to update by modifying the knowledge base.</a:t>
            </a:r>
            <a:endParaRPr lang="en-US" sz="759" dirty="0"/>
          </a:p>
        </p:txBody>
      </p:sp>
      <p:sp>
        <p:nvSpPr>
          <p:cNvPr id="47" name="Text 44"/>
          <p:cNvSpPr/>
          <p:nvPr/>
        </p:nvSpPr>
        <p:spPr>
          <a:xfrm>
            <a:off x="6026044" y="4028075"/>
            <a:ext cx="25215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GROUNDED · UPDATABLE · DOMAIN-AWARE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514350" y="4854178"/>
            <a:ext cx="677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</a:t>
            </a:r>
            <a:endParaRPr lang="en-US" sz="619" dirty="0"/>
          </a:p>
        </p:txBody>
      </p:sp>
      <p:sp>
        <p:nvSpPr>
          <p:cNvPr id="49" name="Text 46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8960" y="2596034"/>
            <a:ext cx="0" cy="331403"/>
          </a:xfrm>
          <a:prstGeom prst="line">
            <a:avLst/>
          </a:prstGeom>
          <a:noFill/>
          <a:ln w="21431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178960" y="3141750"/>
            <a:ext cx="0" cy="460772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68244" y="3706106"/>
            <a:ext cx="3274628" cy="0"/>
          </a:xfrm>
          <a:prstGeom prst="line">
            <a:avLst/>
          </a:prstGeom>
          <a:noFill/>
          <a:ln w="7144">
            <a:solidFill>
              <a:srgbClr val="E6EE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-771525" y="-1314450"/>
            <a:ext cx="3714750" cy="468362"/>
          </a:xfrm>
          <a:prstGeom prst="roundRect">
            <a:avLst>
              <a:gd name="adj" fmla="val 195234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43100" y="2725787"/>
            <a:ext cx="3714750" cy="468250"/>
          </a:xfrm>
          <a:prstGeom prst="roundRect">
            <a:avLst>
              <a:gd name="adj" fmla="val 195280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0199" y="731801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— RAG FOUNDATIONS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0199" y="935398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Support Dataset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50199" y="1349736"/>
            <a:ext cx="58578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Historical customer support conversations form the knowledge source, transformed into Question-Answer pairs.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477703" y="1820937"/>
            <a:ext cx="4369073" cy="350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project uses </a:t>
            </a:r>
            <a:r>
              <a:rPr lang="en-US" sz="800" dirty="0">
                <a:solidFill>
                  <a:srgbClr val="4F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historical customer support conversations</a:t>
            </a: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as the knowledge source. The data is transformed into Question-Answer pairs.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77703" y="2255144"/>
            <a:ext cx="6137182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EACH PAIR CONTAINS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1274" y="2437309"/>
            <a:ext cx="4361929" cy="475059"/>
          </a:xfrm>
          <a:prstGeom prst="roundRect">
            <a:avLst>
              <a:gd name="adj" fmla="val 2406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2718" y="2544465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4149" y="256589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406" dirty="0"/>
          </a:p>
        </p:txBody>
      </p:sp>
      <p:sp>
        <p:nvSpPr>
          <p:cNvPr id="15" name="Text 13"/>
          <p:cNvSpPr/>
          <p:nvPr/>
        </p:nvSpPr>
        <p:spPr>
          <a:xfrm>
            <a:off x="956334" y="2540894"/>
            <a:ext cx="376899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Question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56334" y="2680197"/>
            <a:ext cx="38787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message written by the customer.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1274" y="2990950"/>
            <a:ext cx="4361929" cy="475059"/>
          </a:xfrm>
          <a:prstGeom prst="roundRect">
            <a:avLst>
              <a:gd name="adj" fmla="val 24060"/>
            </a:avLst>
          </a:prstGeom>
          <a:solidFill>
            <a:srgbClr val="111A2E"/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2718" y="3098106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149" y="3119537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0" name="Text 18"/>
          <p:cNvSpPr/>
          <p:nvPr/>
        </p:nvSpPr>
        <p:spPr>
          <a:xfrm>
            <a:off x="956334" y="3094534"/>
            <a:ext cx="3768998" cy="1118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Support Answer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56334" y="3233837"/>
            <a:ext cx="38787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corresponding customer support response.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7703" y="3583881"/>
            <a:ext cx="4369073" cy="175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Question-Answer pairs are used during the </a:t>
            </a:r>
            <a:r>
              <a:rPr lang="en-US" sz="80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process.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021797" y="1824509"/>
            <a:ext cx="3567522" cy="2438809"/>
          </a:xfrm>
          <a:prstGeom prst="roundRect">
            <a:avLst>
              <a:gd name="adj" fmla="val 5468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168244" y="2012033"/>
            <a:ext cx="253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KNOWLEDGE BASE FILE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690792" y="1959598"/>
            <a:ext cx="774941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628286" y="1970956"/>
            <a:ext cx="89995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 · INDEXED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8244" y="2278137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969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28" name="Text 26"/>
          <p:cNvSpPr/>
          <p:nvPr/>
        </p:nvSpPr>
        <p:spPr>
          <a:xfrm>
            <a:off x="5453994" y="2260278"/>
            <a:ext cx="2988878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kern="0" spc="-12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qa_pairs.csv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5168244" y="2596034"/>
            <a:ext cx="3274628" cy="331403"/>
          </a:xfrm>
          <a:prstGeom prst="roundRect">
            <a:avLst>
              <a:gd name="adj" fmla="val 28741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289688" y="2681759"/>
            <a:ext cx="204311" cy="1599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32575" y="2681759"/>
            <a:ext cx="2810284" cy="159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do I reset my account password?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68244" y="2984587"/>
            <a:ext cx="3274628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>
                    <a:alpha val="85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168244" y="3141750"/>
            <a:ext cx="3274628" cy="460772"/>
          </a:xfrm>
          <a:prstGeom prst="roundRect">
            <a:avLst>
              <a:gd name="adj" fmla="val 20672"/>
            </a:avLst>
          </a:prstGeom>
          <a:solidFill>
            <a:srgbClr val="131C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289688" y="3227475"/>
            <a:ext cx="204311" cy="172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575" y="3227475"/>
            <a:ext cx="2810284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You can reset your password from the login page using the Forgot Password link.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68244" y="3781116"/>
            <a:ext cx="24257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 · </a:t>
            </a:r>
            <a:r>
              <a:rPr lang="en-US" sz="800" kern="0" spc="87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CSV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608281" y="3781116"/>
            <a:ext cx="83459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87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· </a:t>
            </a:r>
            <a:r>
              <a:rPr lang="en-US" sz="619" kern="0" spc="87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THOUSANDS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5168244" y="3999000"/>
            <a:ext cx="338435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...thousands of pairs indexed for retrieval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14350" y="4854178"/>
            <a:ext cx="67794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RAG-CHATBOT</a:t>
            </a:r>
            <a:endParaRPr lang="en-US" sz="619" dirty="0"/>
          </a:p>
        </p:txBody>
      </p:sp>
      <p:sp>
        <p:nvSpPr>
          <p:cNvPr id="40" name="Text 38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C82B5960-8DA1-D5C0-00A4-4DE539E2BD41}"/>
              </a:ext>
            </a:extLst>
          </p:cNvPr>
          <p:cNvSpPr/>
          <p:nvPr/>
        </p:nvSpPr>
        <p:spPr>
          <a:xfrm>
            <a:off x="5208871" y="1859939"/>
            <a:ext cx="2917441" cy="0"/>
          </a:xfrm>
          <a:prstGeom prst="line">
            <a:avLst/>
          </a:prstGeom>
          <a:noFill/>
          <a:ln w="7144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6295917-5200-7E0D-BA2F-34424F96EF6D}"/>
              </a:ext>
            </a:extLst>
          </p:cNvPr>
          <p:cNvSpPr/>
          <p:nvPr/>
        </p:nvSpPr>
        <p:spPr>
          <a:xfrm>
            <a:off x="5208871" y="2417152"/>
            <a:ext cx="2917441" cy="0"/>
          </a:xfrm>
          <a:prstGeom prst="line">
            <a:avLst/>
          </a:prstGeom>
          <a:noFill/>
          <a:ln w="7144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D7DE4D3C-61CF-8ACF-ADE3-968B6ECABE3A}"/>
              </a:ext>
            </a:extLst>
          </p:cNvPr>
          <p:cNvSpPr/>
          <p:nvPr/>
        </p:nvSpPr>
        <p:spPr>
          <a:xfrm>
            <a:off x="5208871" y="2974364"/>
            <a:ext cx="2917441" cy="0"/>
          </a:xfrm>
          <a:prstGeom prst="line">
            <a:avLst/>
          </a:prstGeom>
          <a:noFill/>
          <a:ln w="7144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 sz="16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09EB9B3-4AE6-0815-3976-6ECEE833F1A1}"/>
              </a:ext>
            </a:extLst>
          </p:cNvPr>
          <p:cNvSpPr/>
          <p:nvPr/>
        </p:nvSpPr>
        <p:spPr>
          <a:xfrm>
            <a:off x="-933303" y="-5076642"/>
            <a:ext cx="3714750" cy="1732806"/>
          </a:xfrm>
          <a:prstGeom prst="roundRect">
            <a:avLst>
              <a:gd name="adj" fmla="val 52770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189222E-C21C-28BA-74F3-E3319F490222}"/>
              </a:ext>
            </a:extLst>
          </p:cNvPr>
          <p:cNvSpPr/>
          <p:nvPr/>
        </p:nvSpPr>
        <p:spPr>
          <a:xfrm>
            <a:off x="1781322" y="228039"/>
            <a:ext cx="3714750" cy="1732694"/>
          </a:xfrm>
          <a:prstGeom prst="roundRect">
            <a:avLst>
              <a:gd name="adj" fmla="val 52773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AE61BA3-63DF-684C-0268-851CF3318A9F}"/>
              </a:ext>
            </a:extLst>
          </p:cNvPr>
          <p:cNvSpPr/>
          <p:nvPr/>
        </p:nvSpPr>
        <p:spPr>
          <a:xfrm>
            <a:off x="365445" y="285523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7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6F54841F-B5BA-B40E-EBC4-EF479F8974CE}"/>
              </a:ext>
            </a:extLst>
          </p:cNvPr>
          <p:cNvSpPr/>
          <p:nvPr/>
        </p:nvSpPr>
        <p:spPr>
          <a:xfrm>
            <a:off x="345538" y="397601"/>
            <a:ext cx="862965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00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Processing &amp; Vector Index Creation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B9DD0B6-C498-7906-4BB6-4EA077212F1B}"/>
              </a:ext>
            </a:extLst>
          </p:cNvPr>
          <p:cNvSpPr/>
          <p:nvPr/>
        </p:nvSpPr>
        <p:spPr>
          <a:xfrm>
            <a:off x="352572" y="664142"/>
            <a:ext cx="628650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Before the chatbot can answer, customer support data must be transformed into a searchable vector representation.</a:t>
            </a:r>
            <a:endParaRPr lang="en-US" sz="7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DD9D05BA-DF1E-0E03-6BDE-4FDB3D587647}"/>
              </a:ext>
            </a:extLst>
          </p:cNvPr>
          <p:cNvSpPr/>
          <p:nvPr/>
        </p:nvSpPr>
        <p:spPr>
          <a:xfrm>
            <a:off x="352572" y="981258"/>
            <a:ext cx="620062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PROCESSING PIPELINE</a:t>
            </a:r>
            <a:endParaRPr lang="en-US" sz="7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3503ECE6-DC66-3F75-2A6C-66B16E87A36E}"/>
              </a:ext>
            </a:extLst>
          </p:cNvPr>
          <p:cNvSpPr/>
          <p:nvPr/>
        </p:nvSpPr>
        <p:spPr>
          <a:xfrm>
            <a:off x="356144" y="1188427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26D77F2-7C93-B35E-CF20-06EAFCAEAAA9}"/>
              </a:ext>
            </a:extLst>
          </p:cNvPr>
          <p:cNvSpPr/>
          <p:nvPr/>
        </p:nvSpPr>
        <p:spPr>
          <a:xfrm>
            <a:off x="477588" y="1290225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278FC74-10DF-63FB-E131-17616A588C9A}"/>
              </a:ext>
            </a:extLst>
          </p:cNvPr>
          <p:cNvSpPr/>
          <p:nvPr/>
        </p:nvSpPr>
        <p:spPr>
          <a:xfrm>
            <a:off x="474016" y="1286653"/>
            <a:ext cx="250031" cy="94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7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4CE08839-AE3F-BCC0-E161-93F9B49DEBF2}"/>
              </a:ext>
            </a:extLst>
          </p:cNvPr>
          <p:cNvSpPr/>
          <p:nvPr/>
        </p:nvSpPr>
        <p:spPr>
          <a:xfrm>
            <a:off x="774053" y="1256292"/>
            <a:ext cx="137468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5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Customer Support Dataset</a:t>
            </a:r>
            <a:endParaRPr lang="en-US" sz="50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E9AB0E4C-3A57-1587-B86A-7029D911D8CC}"/>
              </a:ext>
            </a:extLst>
          </p:cNvPr>
          <p:cNvSpPr/>
          <p:nvPr/>
        </p:nvSpPr>
        <p:spPr>
          <a:xfrm>
            <a:off x="774053" y="1399167"/>
            <a:ext cx="14036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conversation corpus</a:t>
            </a:r>
            <a:endParaRPr lang="en-US" sz="7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E6C078F4-A63F-3C1E-46E3-D4DB3F0E0FCE}"/>
              </a:ext>
            </a:extLst>
          </p:cNvPr>
          <p:cNvSpPr/>
          <p:nvPr/>
        </p:nvSpPr>
        <p:spPr>
          <a:xfrm>
            <a:off x="352572" y="1617052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44CEFD7A-91A6-30B9-B99B-DE72D4947F51}"/>
              </a:ext>
            </a:extLst>
          </p:cNvPr>
          <p:cNvSpPr/>
          <p:nvPr/>
        </p:nvSpPr>
        <p:spPr>
          <a:xfrm>
            <a:off x="356144" y="1763499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FF619658-5D22-1C4E-EF02-C3D0C06AEFAD}"/>
              </a:ext>
            </a:extLst>
          </p:cNvPr>
          <p:cNvSpPr/>
          <p:nvPr/>
        </p:nvSpPr>
        <p:spPr>
          <a:xfrm>
            <a:off x="477588" y="1865297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B6FBF628-E76E-FE61-BBB1-1AD3767497A3}"/>
              </a:ext>
            </a:extLst>
          </p:cNvPr>
          <p:cNvSpPr/>
          <p:nvPr/>
        </p:nvSpPr>
        <p:spPr>
          <a:xfrm>
            <a:off x="474016" y="1861725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700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F1B78275-5AFA-2C50-BECD-7D5E4184E6D8}"/>
              </a:ext>
            </a:extLst>
          </p:cNvPr>
          <p:cNvSpPr/>
          <p:nvPr/>
        </p:nvSpPr>
        <p:spPr>
          <a:xfrm>
            <a:off x="774053" y="1831364"/>
            <a:ext cx="140297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 Cleaning &amp; Preparation</a:t>
            </a:r>
            <a:endParaRPr lang="en-US" sz="80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63341A09-0E32-6A82-3104-FCD9F630A0AF}"/>
              </a:ext>
            </a:extLst>
          </p:cNvPr>
          <p:cNvSpPr/>
          <p:nvPr/>
        </p:nvSpPr>
        <p:spPr>
          <a:xfrm>
            <a:off x="774053" y="1974239"/>
            <a:ext cx="155262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normalize &amp; tokenize</a:t>
            </a:r>
            <a:endParaRPr lang="en-US" sz="7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3F14F5D-A741-B7D3-24E9-6B388BD5E09D}"/>
              </a:ext>
            </a:extLst>
          </p:cNvPr>
          <p:cNvSpPr/>
          <p:nvPr/>
        </p:nvSpPr>
        <p:spPr>
          <a:xfrm>
            <a:off x="352572" y="2192124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A1028624-5206-28C7-858E-7FB34124362A}"/>
              </a:ext>
            </a:extLst>
          </p:cNvPr>
          <p:cNvSpPr/>
          <p:nvPr/>
        </p:nvSpPr>
        <p:spPr>
          <a:xfrm>
            <a:off x="356144" y="2338571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B9F5C5EF-39EA-EDB7-2065-14F0050A7E0B}"/>
              </a:ext>
            </a:extLst>
          </p:cNvPr>
          <p:cNvSpPr/>
          <p:nvPr/>
        </p:nvSpPr>
        <p:spPr>
          <a:xfrm>
            <a:off x="477588" y="2440369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29ACC6EC-4355-11F3-2BBE-4C8D10648335}"/>
              </a:ext>
            </a:extLst>
          </p:cNvPr>
          <p:cNvSpPr/>
          <p:nvPr/>
        </p:nvSpPr>
        <p:spPr>
          <a:xfrm>
            <a:off x="474016" y="2436797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7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C0760B0D-4331-98F3-BDF1-FD187DAEAEF5}"/>
              </a:ext>
            </a:extLst>
          </p:cNvPr>
          <p:cNvSpPr/>
          <p:nvPr/>
        </p:nvSpPr>
        <p:spPr>
          <a:xfrm>
            <a:off x="774053" y="2406436"/>
            <a:ext cx="15322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Question-Answer Pair Creation</a:t>
            </a:r>
            <a:endParaRPr lang="en-US" sz="8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5A7F44A2-0A36-4BBC-2578-381E6D3CFE38}"/>
              </a:ext>
            </a:extLst>
          </p:cNvPr>
          <p:cNvSpPr/>
          <p:nvPr/>
        </p:nvSpPr>
        <p:spPr>
          <a:xfrm>
            <a:off x="774053" y="2549311"/>
            <a:ext cx="16956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into Q/A rows</a:t>
            </a:r>
            <a:endParaRPr lang="en-US" sz="7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73A6268C-6F52-9777-53DF-3CEBC93A2393}"/>
              </a:ext>
            </a:extLst>
          </p:cNvPr>
          <p:cNvSpPr/>
          <p:nvPr/>
        </p:nvSpPr>
        <p:spPr>
          <a:xfrm>
            <a:off x="352572" y="2767196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2BBAC0D2-8532-3154-A84E-22E08F1C3D5C}"/>
              </a:ext>
            </a:extLst>
          </p:cNvPr>
          <p:cNvSpPr/>
          <p:nvPr/>
        </p:nvSpPr>
        <p:spPr>
          <a:xfrm>
            <a:off x="356144" y="2913642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9" name="Text 28">
            <a:extLst>
              <a:ext uri="{FF2B5EF4-FFF2-40B4-BE49-F238E27FC236}">
                <a16:creationId xmlns:a16="http://schemas.microsoft.com/office/drawing/2014/main" id="{17888186-AF7E-EBF7-4F51-591CB022DBD5}"/>
              </a:ext>
            </a:extLst>
          </p:cNvPr>
          <p:cNvSpPr/>
          <p:nvPr/>
        </p:nvSpPr>
        <p:spPr>
          <a:xfrm>
            <a:off x="477588" y="3015441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4E210B3B-4F89-C3FF-3A5A-1538112D449F}"/>
              </a:ext>
            </a:extLst>
          </p:cNvPr>
          <p:cNvSpPr/>
          <p:nvPr/>
        </p:nvSpPr>
        <p:spPr>
          <a:xfrm>
            <a:off x="474016" y="3011869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7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A8CA3FE7-EE75-22EA-074C-C064301C3E02}"/>
              </a:ext>
            </a:extLst>
          </p:cNvPr>
          <p:cNvSpPr/>
          <p:nvPr/>
        </p:nvSpPr>
        <p:spPr>
          <a:xfrm>
            <a:off x="774053" y="2981508"/>
            <a:ext cx="146439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 Vectorization</a:t>
            </a:r>
            <a:endParaRPr lang="en-US" sz="80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3F722A5E-1F00-9DA0-E558-0B3B80515278}"/>
              </a:ext>
            </a:extLst>
          </p:cNvPr>
          <p:cNvSpPr/>
          <p:nvPr/>
        </p:nvSpPr>
        <p:spPr>
          <a:xfrm>
            <a:off x="774053" y="3124383"/>
            <a:ext cx="134944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5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sparse term-importance vectors</a:t>
            </a:r>
            <a:endParaRPr lang="en-US" sz="500" dirty="0"/>
          </a:p>
        </p:txBody>
      </p:sp>
      <p:sp>
        <p:nvSpPr>
          <p:cNvPr id="67" name="Text 32">
            <a:extLst>
              <a:ext uri="{FF2B5EF4-FFF2-40B4-BE49-F238E27FC236}">
                <a16:creationId xmlns:a16="http://schemas.microsoft.com/office/drawing/2014/main" id="{A5E6876C-8B92-D6CF-1724-5C125A73E400}"/>
              </a:ext>
            </a:extLst>
          </p:cNvPr>
          <p:cNvSpPr/>
          <p:nvPr/>
        </p:nvSpPr>
        <p:spPr>
          <a:xfrm>
            <a:off x="352572" y="3342267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69" name="Text 33">
            <a:extLst>
              <a:ext uri="{FF2B5EF4-FFF2-40B4-BE49-F238E27FC236}">
                <a16:creationId xmlns:a16="http://schemas.microsoft.com/office/drawing/2014/main" id="{1E4C0A5C-F333-F0FE-1476-435B7BBE3FBC}"/>
              </a:ext>
            </a:extLst>
          </p:cNvPr>
          <p:cNvSpPr/>
          <p:nvPr/>
        </p:nvSpPr>
        <p:spPr>
          <a:xfrm>
            <a:off x="356144" y="3488714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8BCBFE62-0C1A-8085-B18D-85A1DFC13C9D}"/>
              </a:ext>
            </a:extLst>
          </p:cNvPr>
          <p:cNvSpPr/>
          <p:nvPr/>
        </p:nvSpPr>
        <p:spPr>
          <a:xfrm>
            <a:off x="477588" y="3590513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132F89A0-F06F-D6C1-EF63-D61A4DB044D9}"/>
              </a:ext>
            </a:extLst>
          </p:cNvPr>
          <p:cNvSpPr/>
          <p:nvPr/>
        </p:nvSpPr>
        <p:spPr>
          <a:xfrm>
            <a:off x="474016" y="3586941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70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51B45A43-703E-E4B2-3D5D-CF54D26BD0A0}"/>
              </a:ext>
            </a:extLst>
          </p:cNvPr>
          <p:cNvSpPr/>
          <p:nvPr/>
        </p:nvSpPr>
        <p:spPr>
          <a:xfrm>
            <a:off x="774053" y="3556580"/>
            <a:ext cx="1171492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Truncated SVD</a:t>
            </a:r>
            <a:endParaRPr lang="en-US" sz="800" dirty="0"/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5D52A76E-092F-62A7-D78C-563236AF7474}"/>
              </a:ext>
            </a:extLst>
          </p:cNvPr>
          <p:cNvSpPr/>
          <p:nvPr/>
        </p:nvSpPr>
        <p:spPr>
          <a:xfrm>
            <a:off x="774053" y="3699455"/>
            <a:ext cx="10795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5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dimensionality reduction</a:t>
            </a:r>
            <a:endParaRPr lang="en-US" sz="500" dirty="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C952C784-3D13-A3A2-226B-6A32D1B10E83}"/>
              </a:ext>
            </a:extLst>
          </p:cNvPr>
          <p:cNvSpPr/>
          <p:nvPr/>
        </p:nvSpPr>
        <p:spPr>
          <a:xfrm>
            <a:off x="352572" y="3917339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81" name="Text 39">
            <a:extLst>
              <a:ext uri="{FF2B5EF4-FFF2-40B4-BE49-F238E27FC236}">
                <a16:creationId xmlns:a16="http://schemas.microsoft.com/office/drawing/2014/main" id="{F1060CB1-0DAB-BEC5-2FD1-04D6CD1103F2}"/>
              </a:ext>
            </a:extLst>
          </p:cNvPr>
          <p:cNvSpPr/>
          <p:nvPr/>
        </p:nvSpPr>
        <p:spPr>
          <a:xfrm>
            <a:off x="356144" y="4063786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2A568BCA-0ED9-20D6-228B-B04EFE005961}"/>
              </a:ext>
            </a:extLst>
          </p:cNvPr>
          <p:cNvSpPr/>
          <p:nvPr/>
        </p:nvSpPr>
        <p:spPr>
          <a:xfrm>
            <a:off x="477588" y="4165585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9437CEC1-9926-826E-ECD8-93400ACE23D0}"/>
              </a:ext>
            </a:extLst>
          </p:cNvPr>
          <p:cNvSpPr/>
          <p:nvPr/>
        </p:nvSpPr>
        <p:spPr>
          <a:xfrm>
            <a:off x="474016" y="4162013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7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5697FACA-B038-AB2D-E74A-6788DEDC9045}"/>
              </a:ext>
            </a:extLst>
          </p:cNvPr>
          <p:cNvSpPr/>
          <p:nvPr/>
        </p:nvSpPr>
        <p:spPr>
          <a:xfrm>
            <a:off x="774053" y="4131652"/>
            <a:ext cx="1481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Dense Vector Representation</a:t>
            </a:r>
            <a:endParaRPr lang="en-US" sz="800" dirty="0"/>
          </a:p>
        </p:txBody>
      </p:sp>
      <p:sp>
        <p:nvSpPr>
          <p:cNvPr id="89" name="Text 43">
            <a:extLst>
              <a:ext uri="{FF2B5EF4-FFF2-40B4-BE49-F238E27FC236}">
                <a16:creationId xmlns:a16="http://schemas.microsoft.com/office/drawing/2014/main" id="{38AF4AC2-600C-2E48-24C2-DEAF1CCF8D6D}"/>
              </a:ext>
            </a:extLst>
          </p:cNvPr>
          <p:cNvSpPr/>
          <p:nvPr/>
        </p:nvSpPr>
        <p:spPr>
          <a:xfrm>
            <a:off x="774053" y="4274527"/>
            <a:ext cx="163934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compact embeddings</a:t>
            </a:r>
            <a:endParaRPr lang="en-US" sz="700" dirty="0"/>
          </a:p>
        </p:txBody>
      </p:sp>
      <p:sp>
        <p:nvSpPr>
          <p:cNvPr id="91" name="Text 44">
            <a:extLst>
              <a:ext uri="{FF2B5EF4-FFF2-40B4-BE49-F238E27FC236}">
                <a16:creationId xmlns:a16="http://schemas.microsoft.com/office/drawing/2014/main" id="{F99BD589-5685-35F8-1B28-E1FA386A0A59}"/>
              </a:ext>
            </a:extLst>
          </p:cNvPr>
          <p:cNvSpPr/>
          <p:nvPr/>
        </p:nvSpPr>
        <p:spPr>
          <a:xfrm>
            <a:off x="352572" y="4492411"/>
            <a:ext cx="44633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FD1FF">
                    <a:alpha val="70000"/>
                  </a:srgbClr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lang="en-US" sz="700" dirty="0"/>
          </a:p>
        </p:txBody>
      </p:sp>
      <p:sp>
        <p:nvSpPr>
          <p:cNvPr id="93" name="Text 45">
            <a:extLst>
              <a:ext uri="{FF2B5EF4-FFF2-40B4-BE49-F238E27FC236}">
                <a16:creationId xmlns:a16="http://schemas.microsoft.com/office/drawing/2014/main" id="{0302AE0A-F0B6-BD3C-A22A-CB2294A9DFDE}"/>
              </a:ext>
            </a:extLst>
          </p:cNvPr>
          <p:cNvSpPr/>
          <p:nvPr/>
        </p:nvSpPr>
        <p:spPr>
          <a:xfrm>
            <a:off x="356144" y="4615998"/>
            <a:ext cx="4456249" cy="396478"/>
          </a:xfrm>
          <a:prstGeom prst="roundRect">
            <a:avLst>
              <a:gd name="adj" fmla="val 2882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C1B1D6A4-5805-6124-4A1A-42C18CE6EA40}"/>
              </a:ext>
            </a:extLst>
          </p:cNvPr>
          <p:cNvSpPr/>
          <p:nvPr/>
        </p:nvSpPr>
        <p:spPr>
          <a:xfrm>
            <a:off x="477588" y="4740656"/>
            <a:ext cx="192881" cy="192881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97" name="Text 47">
            <a:extLst>
              <a:ext uri="{FF2B5EF4-FFF2-40B4-BE49-F238E27FC236}">
                <a16:creationId xmlns:a16="http://schemas.microsoft.com/office/drawing/2014/main" id="{A1460C3E-8A79-E1DE-0B1D-4C47044FDD39}"/>
              </a:ext>
            </a:extLst>
          </p:cNvPr>
          <p:cNvSpPr/>
          <p:nvPr/>
        </p:nvSpPr>
        <p:spPr>
          <a:xfrm>
            <a:off x="474016" y="4737085"/>
            <a:ext cx="25003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7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700" dirty="0"/>
          </a:p>
        </p:txBody>
      </p:sp>
      <p:sp>
        <p:nvSpPr>
          <p:cNvPr id="99" name="Text 48">
            <a:extLst>
              <a:ext uri="{FF2B5EF4-FFF2-40B4-BE49-F238E27FC236}">
                <a16:creationId xmlns:a16="http://schemas.microsoft.com/office/drawing/2014/main" id="{8BD48548-E8ED-DE58-7B0E-9914A83E1F03}"/>
              </a:ext>
            </a:extLst>
          </p:cNvPr>
          <p:cNvSpPr/>
          <p:nvPr/>
        </p:nvSpPr>
        <p:spPr>
          <a:xfrm>
            <a:off x="774053" y="4706724"/>
            <a:ext cx="131801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FAISS Vector Index</a:t>
            </a:r>
            <a:endParaRPr lang="en-US" sz="800" dirty="0"/>
          </a:p>
        </p:txBody>
      </p:sp>
      <p:sp>
        <p:nvSpPr>
          <p:cNvPr id="101" name="Text 49">
            <a:extLst>
              <a:ext uri="{FF2B5EF4-FFF2-40B4-BE49-F238E27FC236}">
                <a16:creationId xmlns:a16="http://schemas.microsoft.com/office/drawing/2014/main" id="{379D4902-D68C-CDF8-1025-7BD2BA9FDA6C}"/>
              </a:ext>
            </a:extLst>
          </p:cNvPr>
          <p:cNvSpPr/>
          <p:nvPr/>
        </p:nvSpPr>
        <p:spPr>
          <a:xfrm>
            <a:off x="774053" y="4849599"/>
            <a:ext cx="1214549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500" kern="0" spc="19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similarity search structure</a:t>
            </a:r>
            <a:endParaRPr lang="en-US" sz="500" dirty="0"/>
          </a:p>
        </p:txBody>
      </p:sp>
      <p:sp>
        <p:nvSpPr>
          <p:cNvPr id="103" name="Text 50">
            <a:extLst>
              <a:ext uri="{FF2B5EF4-FFF2-40B4-BE49-F238E27FC236}">
                <a16:creationId xmlns:a16="http://schemas.microsoft.com/office/drawing/2014/main" id="{F69C6754-3068-03DF-6DFF-A979A82DE4A3}"/>
              </a:ext>
            </a:extLst>
          </p:cNvPr>
          <p:cNvSpPr/>
          <p:nvPr/>
        </p:nvSpPr>
        <p:spPr>
          <a:xfrm>
            <a:off x="5044565" y="981258"/>
            <a:ext cx="39376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GENERATED RAG ASSETS</a:t>
            </a:r>
            <a:endParaRPr lang="en-US" sz="700" dirty="0"/>
          </a:p>
        </p:txBody>
      </p:sp>
      <p:pic>
        <p:nvPicPr>
          <p:cNvPr id="105" name="Image 0" descr="preencoded.png">
            <a:extLst>
              <a:ext uri="{FF2B5EF4-FFF2-40B4-BE49-F238E27FC236}">
                <a16:creationId xmlns:a16="http://schemas.microsoft.com/office/drawing/2014/main" id="{518A5264-071E-C977-347E-6D1AD1647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565" y="1184855"/>
            <a:ext cx="3246053" cy="2815977"/>
          </a:xfrm>
          <a:prstGeom prst="rect">
            <a:avLst/>
          </a:prstGeom>
        </p:spPr>
      </p:pic>
      <p:sp>
        <p:nvSpPr>
          <p:cNvPr id="107" name="Text 51">
            <a:extLst>
              <a:ext uri="{FF2B5EF4-FFF2-40B4-BE49-F238E27FC236}">
                <a16:creationId xmlns:a16="http://schemas.microsoft.com/office/drawing/2014/main" id="{6E2CE6D4-D219-EB2B-8E0F-EF3FB143BF3D}"/>
              </a:ext>
            </a:extLst>
          </p:cNvPr>
          <p:cNvSpPr/>
          <p:nvPr/>
        </p:nvSpPr>
        <p:spPr>
          <a:xfrm>
            <a:off x="5048137" y="1188427"/>
            <a:ext cx="3238909" cy="2808833"/>
          </a:xfrm>
          <a:prstGeom prst="roundRect">
            <a:avLst>
              <a:gd name="adj" fmla="val 4748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09" name="Text 52">
            <a:extLst>
              <a:ext uri="{FF2B5EF4-FFF2-40B4-BE49-F238E27FC236}">
                <a16:creationId xmlns:a16="http://schemas.microsoft.com/office/drawing/2014/main" id="{37F93C20-1EA8-FB45-EC0C-CEFB800D8DC5}"/>
              </a:ext>
            </a:extLst>
          </p:cNvPr>
          <p:cNvSpPr/>
          <p:nvPr/>
        </p:nvSpPr>
        <p:spPr>
          <a:xfrm>
            <a:off x="5208871" y="1445602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4FD1FF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1" name="Text 53">
            <a:extLst>
              <a:ext uri="{FF2B5EF4-FFF2-40B4-BE49-F238E27FC236}">
                <a16:creationId xmlns:a16="http://schemas.microsoft.com/office/drawing/2014/main" id="{FFF42CF2-7BBB-27D3-9F1B-7F85F75F32FD}"/>
              </a:ext>
            </a:extLst>
          </p:cNvPr>
          <p:cNvSpPr/>
          <p:nvPr/>
        </p:nvSpPr>
        <p:spPr>
          <a:xfrm>
            <a:off x="5241018" y="1477749"/>
            <a:ext cx="2071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0" dirty="0"/>
          </a:p>
        </p:txBody>
      </p:sp>
      <p:sp>
        <p:nvSpPr>
          <p:cNvPr id="113" name="Text 54">
            <a:extLst>
              <a:ext uri="{FF2B5EF4-FFF2-40B4-BE49-F238E27FC236}">
                <a16:creationId xmlns:a16="http://schemas.microsoft.com/office/drawing/2014/main" id="{A7504DEE-3506-0D5C-8710-81E52F32E673}"/>
              </a:ext>
            </a:extLst>
          </p:cNvPr>
          <p:cNvSpPr/>
          <p:nvPr/>
        </p:nvSpPr>
        <p:spPr>
          <a:xfrm>
            <a:off x="5557486" y="1342661"/>
            <a:ext cx="415900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15" name="Text 55">
            <a:extLst>
              <a:ext uri="{FF2B5EF4-FFF2-40B4-BE49-F238E27FC236}">
                <a16:creationId xmlns:a16="http://schemas.microsoft.com/office/drawing/2014/main" id="{6C09996F-E1F2-8354-BDC9-68034C6E872C}"/>
              </a:ext>
            </a:extLst>
          </p:cNvPr>
          <p:cNvSpPr/>
          <p:nvPr/>
        </p:nvSpPr>
        <p:spPr>
          <a:xfrm>
            <a:off x="5580346" y="1392024"/>
            <a:ext cx="38509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700" dirty="0"/>
          </a:p>
        </p:txBody>
      </p:sp>
      <p:sp>
        <p:nvSpPr>
          <p:cNvPr id="117" name="Text 56">
            <a:extLst>
              <a:ext uri="{FF2B5EF4-FFF2-40B4-BE49-F238E27FC236}">
                <a16:creationId xmlns:a16="http://schemas.microsoft.com/office/drawing/2014/main" id="{52D86861-CFAC-2531-A69B-D8BC24E97D5C}"/>
              </a:ext>
            </a:extLst>
          </p:cNvPr>
          <p:cNvSpPr/>
          <p:nvPr/>
        </p:nvSpPr>
        <p:spPr>
          <a:xfrm>
            <a:off x="5556686" y="1609908"/>
            <a:ext cx="75191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kern="0" spc="8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faiss.index</a:t>
            </a:r>
            <a:endParaRPr lang="en-US" sz="800" dirty="0"/>
          </a:p>
        </p:txBody>
      </p:sp>
      <p:sp>
        <p:nvSpPr>
          <p:cNvPr id="119" name="Text 57">
            <a:extLst>
              <a:ext uri="{FF2B5EF4-FFF2-40B4-BE49-F238E27FC236}">
                <a16:creationId xmlns:a16="http://schemas.microsoft.com/office/drawing/2014/main" id="{1C6BB40F-A36E-6700-083B-8ED5AE86A734}"/>
              </a:ext>
            </a:extLst>
          </p:cNvPr>
          <p:cNvSpPr/>
          <p:nvPr/>
        </p:nvSpPr>
        <p:spPr>
          <a:xfrm>
            <a:off x="5208871" y="2002814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4FD1FF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1" name="Text 58">
            <a:extLst>
              <a:ext uri="{FF2B5EF4-FFF2-40B4-BE49-F238E27FC236}">
                <a16:creationId xmlns:a16="http://schemas.microsoft.com/office/drawing/2014/main" id="{DBC7AFB9-5E6B-F659-240C-5B8E4D6BEB29}"/>
              </a:ext>
            </a:extLst>
          </p:cNvPr>
          <p:cNvSpPr/>
          <p:nvPr/>
        </p:nvSpPr>
        <p:spPr>
          <a:xfrm>
            <a:off x="5241018" y="2034961"/>
            <a:ext cx="2071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400" dirty="0"/>
          </a:p>
        </p:txBody>
      </p:sp>
      <p:sp>
        <p:nvSpPr>
          <p:cNvPr id="123" name="Text 59">
            <a:extLst>
              <a:ext uri="{FF2B5EF4-FFF2-40B4-BE49-F238E27FC236}">
                <a16:creationId xmlns:a16="http://schemas.microsoft.com/office/drawing/2014/main" id="{823FEBDF-935A-4ABC-3DE0-C7CF7B5C726C}"/>
              </a:ext>
            </a:extLst>
          </p:cNvPr>
          <p:cNvSpPr/>
          <p:nvPr/>
        </p:nvSpPr>
        <p:spPr>
          <a:xfrm>
            <a:off x="5557486" y="1896800"/>
            <a:ext cx="658743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5" name="Text 60">
            <a:extLst>
              <a:ext uri="{FF2B5EF4-FFF2-40B4-BE49-F238E27FC236}">
                <a16:creationId xmlns:a16="http://schemas.microsoft.com/office/drawing/2014/main" id="{1378429D-BCCD-9EB1-C502-3B5CB4EF865F}"/>
              </a:ext>
            </a:extLst>
          </p:cNvPr>
          <p:cNvSpPr/>
          <p:nvPr/>
        </p:nvSpPr>
        <p:spPr>
          <a:xfrm>
            <a:off x="5557369" y="1949236"/>
            <a:ext cx="65897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vectorizer</a:t>
            </a:r>
            <a:endParaRPr lang="en-US" sz="700" dirty="0"/>
          </a:p>
        </p:txBody>
      </p:sp>
      <p:sp>
        <p:nvSpPr>
          <p:cNvPr id="127" name="Text 61">
            <a:extLst>
              <a:ext uri="{FF2B5EF4-FFF2-40B4-BE49-F238E27FC236}">
                <a16:creationId xmlns:a16="http://schemas.microsoft.com/office/drawing/2014/main" id="{A1158B81-5EB2-8AD2-ABF3-E0BAEC98F429}"/>
              </a:ext>
            </a:extLst>
          </p:cNvPr>
          <p:cNvSpPr/>
          <p:nvPr/>
        </p:nvSpPr>
        <p:spPr>
          <a:xfrm>
            <a:off x="5580346" y="2167121"/>
            <a:ext cx="89677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kern="0" spc="8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vectorizer.pkl</a:t>
            </a:r>
            <a:endParaRPr lang="en-US" sz="800" dirty="0"/>
          </a:p>
        </p:txBody>
      </p:sp>
      <p:sp>
        <p:nvSpPr>
          <p:cNvPr id="129" name="Text 62">
            <a:extLst>
              <a:ext uri="{FF2B5EF4-FFF2-40B4-BE49-F238E27FC236}">
                <a16:creationId xmlns:a16="http://schemas.microsoft.com/office/drawing/2014/main" id="{0C4B7E22-1879-D775-D011-3600CD71067A}"/>
              </a:ext>
            </a:extLst>
          </p:cNvPr>
          <p:cNvSpPr/>
          <p:nvPr/>
        </p:nvSpPr>
        <p:spPr>
          <a:xfrm>
            <a:off x="5208871" y="2560027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4FD1FF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1" name="Text 63">
            <a:extLst>
              <a:ext uri="{FF2B5EF4-FFF2-40B4-BE49-F238E27FC236}">
                <a16:creationId xmlns:a16="http://schemas.microsoft.com/office/drawing/2014/main" id="{A6B06FE3-6060-01E4-528F-AD6CE148EF3C}"/>
              </a:ext>
            </a:extLst>
          </p:cNvPr>
          <p:cNvSpPr/>
          <p:nvPr/>
        </p:nvSpPr>
        <p:spPr>
          <a:xfrm>
            <a:off x="5241018" y="2592174"/>
            <a:ext cx="2071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0" dirty="0"/>
          </a:p>
        </p:txBody>
      </p:sp>
      <p:sp>
        <p:nvSpPr>
          <p:cNvPr id="133" name="Text 64">
            <a:extLst>
              <a:ext uri="{FF2B5EF4-FFF2-40B4-BE49-F238E27FC236}">
                <a16:creationId xmlns:a16="http://schemas.microsoft.com/office/drawing/2014/main" id="{16B504B1-577D-43B1-A23B-CB7146A42F68}"/>
              </a:ext>
            </a:extLst>
          </p:cNvPr>
          <p:cNvSpPr/>
          <p:nvPr/>
        </p:nvSpPr>
        <p:spPr>
          <a:xfrm>
            <a:off x="5569496" y="2445870"/>
            <a:ext cx="514390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35" name="Text 65">
            <a:extLst>
              <a:ext uri="{FF2B5EF4-FFF2-40B4-BE49-F238E27FC236}">
                <a16:creationId xmlns:a16="http://schemas.microsoft.com/office/drawing/2014/main" id="{C2B26672-AC66-244D-7436-C8DC5E204421}"/>
              </a:ext>
            </a:extLst>
          </p:cNvPr>
          <p:cNvSpPr/>
          <p:nvPr/>
        </p:nvSpPr>
        <p:spPr>
          <a:xfrm>
            <a:off x="5580346" y="2506449"/>
            <a:ext cx="476287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reducer</a:t>
            </a:r>
            <a:endParaRPr lang="en-US" sz="700" dirty="0"/>
          </a:p>
        </p:txBody>
      </p:sp>
      <p:sp>
        <p:nvSpPr>
          <p:cNvPr id="137" name="Text 66">
            <a:extLst>
              <a:ext uri="{FF2B5EF4-FFF2-40B4-BE49-F238E27FC236}">
                <a16:creationId xmlns:a16="http://schemas.microsoft.com/office/drawing/2014/main" id="{404BC658-97B4-8F3D-41E3-3F61D9C853F2}"/>
              </a:ext>
            </a:extLst>
          </p:cNvPr>
          <p:cNvSpPr/>
          <p:nvPr/>
        </p:nvSpPr>
        <p:spPr>
          <a:xfrm>
            <a:off x="5580346" y="2724333"/>
            <a:ext cx="60964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kern="0" spc="8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svd.pkl</a:t>
            </a:r>
            <a:endParaRPr lang="en-US" sz="800" dirty="0"/>
          </a:p>
        </p:txBody>
      </p:sp>
      <p:sp>
        <p:nvSpPr>
          <p:cNvPr id="139" name="Text 67">
            <a:extLst>
              <a:ext uri="{FF2B5EF4-FFF2-40B4-BE49-F238E27FC236}">
                <a16:creationId xmlns:a16="http://schemas.microsoft.com/office/drawing/2014/main" id="{B8D46372-B9B6-DC8C-229D-6C0495147B16}"/>
              </a:ext>
            </a:extLst>
          </p:cNvPr>
          <p:cNvSpPr/>
          <p:nvPr/>
        </p:nvSpPr>
        <p:spPr>
          <a:xfrm>
            <a:off x="5208871" y="3117239"/>
            <a:ext cx="271463" cy="271463"/>
          </a:xfrm>
          <a:prstGeom prst="roundRect">
            <a:avLst>
              <a:gd name="adj" fmla="val 35088"/>
            </a:avLst>
          </a:prstGeom>
          <a:solidFill>
            <a:srgbClr val="4FD1FF">
              <a:alpha val="1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1" name="Text 68">
            <a:extLst>
              <a:ext uri="{FF2B5EF4-FFF2-40B4-BE49-F238E27FC236}">
                <a16:creationId xmlns:a16="http://schemas.microsoft.com/office/drawing/2014/main" id="{9C73DC31-6023-0A18-8C09-6615877CDE3D}"/>
              </a:ext>
            </a:extLst>
          </p:cNvPr>
          <p:cNvSpPr/>
          <p:nvPr/>
        </p:nvSpPr>
        <p:spPr>
          <a:xfrm>
            <a:off x="5241018" y="3149386"/>
            <a:ext cx="207169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0" dirty="0"/>
          </a:p>
        </p:txBody>
      </p:sp>
      <p:sp>
        <p:nvSpPr>
          <p:cNvPr id="143" name="Text 69">
            <a:extLst>
              <a:ext uri="{FF2B5EF4-FFF2-40B4-BE49-F238E27FC236}">
                <a16:creationId xmlns:a16="http://schemas.microsoft.com/office/drawing/2014/main" id="{020FA1D7-DADC-CD56-5F50-31D37275FCE7}"/>
              </a:ext>
            </a:extLst>
          </p:cNvPr>
          <p:cNvSpPr/>
          <p:nvPr/>
        </p:nvSpPr>
        <p:spPr>
          <a:xfrm>
            <a:off x="5563121" y="3016648"/>
            <a:ext cx="465085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5" name="Text 70">
            <a:extLst>
              <a:ext uri="{FF2B5EF4-FFF2-40B4-BE49-F238E27FC236}">
                <a16:creationId xmlns:a16="http://schemas.microsoft.com/office/drawing/2014/main" id="{F6A1ED16-DD61-E993-AFB8-E74CA9C828B0}"/>
              </a:ext>
            </a:extLst>
          </p:cNvPr>
          <p:cNvSpPr/>
          <p:nvPr/>
        </p:nvSpPr>
        <p:spPr>
          <a:xfrm>
            <a:off x="5580346" y="3063661"/>
            <a:ext cx="430634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700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corpus</a:t>
            </a:r>
            <a:endParaRPr lang="en-US" sz="700" dirty="0"/>
          </a:p>
        </p:txBody>
      </p:sp>
      <p:sp>
        <p:nvSpPr>
          <p:cNvPr id="147" name="Text 71">
            <a:extLst>
              <a:ext uri="{FF2B5EF4-FFF2-40B4-BE49-F238E27FC236}">
                <a16:creationId xmlns:a16="http://schemas.microsoft.com/office/drawing/2014/main" id="{BCE86A39-006D-CC2F-D062-A5E7E6CF457A}"/>
              </a:ext>
            </a:extLst>
          </p:cNvPr>
          <p:cNvSpPr/>
          <p:nvPr/>
        </p:nvSpPr>
        <p:spPr>
          <a:xfrm>
            <a:off x="5560287" y="3281546"/>
            <a:ext cx="80881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00" kern="0" spc="8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qa_pairs.csv</a:t>
            </a:r>
            <a:endParaRPr lang="en-US" sz="800" dirty="0"/>
          </a:p>
        </p:txBody>
      </p:sp>
      <p:sp>
        <p:nvSpPr>
          <p:cNvPr id="149" name="Text 72">
            <a:extLst>
              <a:ext uri="{FF2B5EF4-FFF2-40B4-BE49-F238E27FC236}">
                <a16:creationId xmlns:a16="http://schemas.microsoft.com/office/drawing/2014/main" id="{B718EAAC-45E3-6F5A-FAF2-9B0013068446}"/>
              </a:ext>
            </a:extLst>
          </p:cNvPr>
          <p:cNvSpPr/>
          <p:nvPr/>
        </p:nvSpPr>
        <p:spPr>
          <a:xfrm>
            <a:off x="5208871" y="3613730"/>
            <a:ext cx="291744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6"/>
              </a:lnSpc>
              <a:buNone/>
            </a:pPr>
            <a:r>
              <a:rPr lang="en-US" sz="7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These components represent the searchable knowledge base used by the chatbot.</a:t>
            </a:r>
            <a:endParaRPr lang="en-US" sz="700" dirty="0"/>
          </a:p>
        </p:txBody>
      </p:sp>
      <p:sp>
        <p:nvSpPr>
          <p:cNvPr id="151" name="Text 73">
            <a:extLst>
              <a:ext uri="{FF2B5EF4-FFF2-40B4-BE49-F238E27FC236}">
                <a16:creationId xmlns:a16="http://schemas.microsoft.com/office/drawing/2014/main" id="{79C31981-A3D9-C46A-2461-501069815886}"/>
              </a:ext>
            </a:extLst>
          </p:cNvPr>
          <p:cNvSpPr/>
          <p:nvPr/>
        </p:nvSpPr>
        <p:spPr>
          <a:xfrm>
            <a:off x="352572" y="1091986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endParaRPr lang="en-US" sz="500" dirty="0"/>
          </a:p>
        </p:txBody>
      </p:sp>
      <p:sp>
        <p:nvSpPr>
          <p:cNvPr id="153" name="Text 74">
            <a:extLst>
              <a:ext uri="{FF2B5EF4-FFF2-40B4-BE49-F238E27FC236}">
                <a16:creationId xmlns:a16="http://schemas.microsoft.com/office/drawing/2014/main" id="{F4F20949-5363-FCB3-003D-1EFB7995D02A}"/>
              </a:ext>
            </a:extLst>
          </p:cNvPr>
          <p:cNvSpPr/>
          <p:nvPr/>
        </p:nvSpPr>
        <p:spPr>
          <a:xfrm>
            <a:off x="8126758" y="1091986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7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18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402841"/>
          </a:xfrm>
          <a:prstGeom prst="roundRect">
            <a:avLst>
              <a:gd name="adj" fmla="val 226988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43100" y="2660266"/>
            <a:ext cx="3714750" cy="402729"/>
          </a:xfrm>
          <a:prstGeom prst="roundRect">
            <a:avLst>
              <a:gd name="adj" fmla="val 227051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829858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1004880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Our RAG Pipeline Works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390643"/>
            <a:ext cx="628650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user query to final answer — six stages with retrieval, generation, and post-processing.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90418" y="1793840"/>
            <a:ext cx="2631244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0437" y="1929572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6865" y="1926000"/>
            <a:ext cx="30003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79765" y="1986052"/>
            <a:ext cx="199545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Query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36865" y="2254612"/>
            <a:ext cx="2448078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user sends a customer support question.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28819" y="1793840"/>
            <a:ext cx="2631244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78837" y="1929572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75266" y="1926000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718166" y="1986052"/>
            <a:ext cx="199545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 Vectorization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75266" y="2254612"/>
            <a:ext cx="233835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question is transformed using </a:t>
            </a:r>
            <a:r>
              <a:rPr lang="en-US" sz="80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 → Truncated SVD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into a dense vector.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967219" y="1793840"/>
            <a:ext cx="2631356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17238" y="1929572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13666" y="1926000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56566" y="1986052"/>
            <a:ext cx="1995562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13666" y="2254612"/>
            <a:ext cx="2338462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query vector is compared against the FAISS index. The system retrieves the </a:t>
            </a:r>
            <a:r>
              <a:rPr lang="en-US" sz="800" dirty="0">
                <a:solidFill>
                  <a:srgbClr val="4FD1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Top-K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most similar customer support examples.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0418" y="2925567"/>
            <a:ext cx="2631244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0437" y="306129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6865" y="3057726"/>
            <a:ext cx="30003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79765" y="3117778"/>
            <a:ext cx="199545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 Construction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6865" y="3386339"/>
            <a:ext cx="2338350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retrieved information is used as a reference when constructing the LLM prompt.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228819" y="2925567"/>
            <a:ext cx="2631244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378837" y="306129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75266" y="3057726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18166" y="3117778"/>
            <a:ext cx="199545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Generation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5266" y="3386339"/>
            <a:ext cx="233835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TinyLlama-1.1B-Chat</a:t>
            </a: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generates the customer support response.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967219" y="2925567"/>
            <a:ext cx="2631356" cy="1024570"/>
          </a:xfrm>
          <a:prstGeom prst="roundRect">
            <a:avLst>
              <a:gd name="adj" fmla="val 1301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117238" y="3061298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13666" y="3057726"/>
            <a:ext cx="300038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56566" y="3117778"/>
            <a:ext cx="1995562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Post-Processing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13666" y="3386339"/>
            <a:ext cx="2338462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generated answer is cleaned to remove hallucinated conversation turns, placeholder text, sign-offs, leaked model tokens, and unwanted formatting.</a:t>
            </a:r>
            <a:endParaRPr lang="en-US" sz="8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4123015"/>
            <a:ext cx="8115300" cy="38219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17922" y="4126587"/>
            <a:ext cx="8108156" cy="375047"/>
          </a:xfrm>
          <a:prstGeom prst="roundRect">
            <a:avLst>
              <a:gd name="adj" fmla="val 35556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8656" y="4255175"/>
            <a:ext cx="13569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PIPELINE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758814" y="4244459"/>
            <a:ext cx="65418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Query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324174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2452694" y="4244459"/>
            <a:ext cx="46116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2823009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2961557" y="4244459"/>
            <a:ext cx="25855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SVD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176960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3318508" y="4244459"/>
            <a:ext cx="40721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3627574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779490" y="4244459"/>
            <a:ext cx="11470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Retrieved Documents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754277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902578" y="4244459"/>
            <a:ext cx="42159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5253112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5405028" y="4244459"/>
            <a:ext cx="62155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TinyLlama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5896831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048747" y="4244459"/>
            <a:ext cx="90552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Post-Processing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830318" y="4244459"/>
            <a:ext cx="947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kern="0" spc="15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6955012" y="4244459"/>
            <a:ext cx="77886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5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Answer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514350" y="4854178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CS-RAG · DEEP SPACE TECH</a:t>
            </a:r>
            <a:endParaRPr lang="en-US" sz="619" dirty="0"/>
          </a:p>
        </p:txBody>
      </p:sp>
      <p:sp>
        <p:nvSpPr>
          <p:cNvPr id="58" name="Text 55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93315"/>
          </a:xfrm>
          <a:prstGeom prst="roundRect">
            <a:avLst>
              <a:gd name="adj" fmla="val 979907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43100" y="2350740"/>
            <a:ext cx="3714750" cy="93204"/>
          </a:xfrm>
          <a:prstGeom prst="roundRect">
            <a:avLst>
              <a:gd name="adj" fmla="val 981074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586569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761591"/>
            <a:ext cx="8629650" cy="35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Retrieval Technology Stack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147353"/>
            <a:ext cx="628650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Three complementary technologies form the retrieval backbone.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468041"/>
            <a:ext cx="2612157" cy="2707481"/>
          </a:xfrm>
          <a:prstGeom prst="roundRect">
            <a:avLst>
              <a:gd name="adj" fmla="val 510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63949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935831" y="1618059"/>
            <a:ext cx="530089" cy="200025"/>
          </a:xfrm>
          <a:prstGeom prst="roundRect">
            <a:avLst>
              <a:gd name="adj" fmla="val 4757143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8608" y="1628775"/>
            <a:ext cx="704535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92944" y="1893094"/>
            <a:ext cx="22621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kern="0" spc="-45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92944" y="2235994"/>
            <a:ext cx="2262113" cy="320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Term Frequency–Inverse Document Frequency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92944" y="2618854"/>
            <a:ext cx="226211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Transforms customer questions into numerical vectors based on the importance of words across the corpus.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65810" y="1468041"/>
            <a:ext cx="2612268" cy="2707481"/>
          </a:xfrm>
          <a:prstGeom prst="roundRect">
            <a:avLst>
              <a:gd name="adj" fmla="val 510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40832" y="163949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3683719" y="1618059"/>
            <a:ext cx="405854" cy="200025"/>
          </a:xfrm>
          <a:prstGeom prst="roundRect">
            <a:avLst>
              <a:gd name="adj" fmla="val 4757143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45875" y="1628775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REDUCE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440832" y="1893094"/>
            <a:ext cx="226222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kern="0" spc="-45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SVD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3440832" y="2235994"/>
            <a:ext cx="2371953" cy="16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Truncated Singular Value Decomposition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40832" y="2470286"/>
            <a:ext cx="2371953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Reduces the dimensionality of TF-IDF vectors.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3440832" y="2733154"/>
            <a:ext cx="2262225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40832" y="2922463"/>
            <a:ext cx="2262225" cy="7897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Smaller vector representations.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Reduced memory usage.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Faster similarity search.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Captures latent semantic patterns.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13810" y="1468041"/>
            <a:ext cx="2612157" cy="2707481"/>
          </a:xfrm>
          <a:prstGeom prst="roundRect">
            <a:avLst>
              <a:gd name="adj" fmla="val 510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188832" y="163949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547" dirty="0"/>
          </a:p>
        </p:txBody>
      </p:sp>
      <p:sp>
        <p:nvSpPr>
          <p:cNvPr id="25" name="Text 23"/>
          <p:cNvSpPr/>
          <p:nvPr/>
        </p:nvSpPr>
        <p:spPr>
          <a:xfrm>
            <a:off x="6431719" y="1618059"/>
            <a:ext cx="405854" cy="200025"/>
          </a:xfrm>
          <a:prstGeom prst="roundRect">
            <a:avLst>
              <a:gd name="adj" fmla="val 4757143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93875" y="1628775"/>
            <a:ext cx="481543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45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88832" y="1893094"/>
            <a:ext cx="2262113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kern="0" spc="-45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6188832" y="2235994"/>
            <a:ext cx="2371841" cy="160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Facebook AI Similarity Search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88832" y="2470286"/>
            <a:ext cx="2262113" cy="351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Performs efficient similarity search between the user query and the stored knowledge vectors.</a:t>
            </a:r>
            <a:endParaRPr lang="en-US" sz="800" dirty="0"/>
          </a:p>
        </p:txBody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4307681"/>
            <a:ext cx="8115300" cy="43576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17922" y="4311253"/>
            <a:ext cx="8108156" cy="428625"/>
          </a:xfrm>
          <a:prstGeom prst="roundRect">
            <a:avLst>
              <a:gd name="adj" fmla="val 31111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692944" y="4466630"/>
            <a:ext cx="8619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399394" y="4429125"/>
            <a:ext cx="70516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can quickly retrieve relevant historical customer support examples.</a:t>
            </a:r>
            <a:endParaRPr lang="en-US" sz="1013" dirty="0"/>
          </a:p>
        </p:txBody>
      </p:sp>
      <p:sp>
        <p:nvSpPr>
          <p:cNvPr id="34" name="Text 31"/>
          <p:cNvSpPr/>
          <p:nvPr/>
        </p:nvSpPr>
        <p:spPr>
          <a:xfrm>
            <a:off x="8293894" y="444698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547" dirty="0"/>
          </a:p>
        </p:txBody>
      </p:sp>
      <p:sp>
        <p:nvSpPr>
          <p:cNvPr id="35" name="Text 32"/>
          <p:cNvSpPr/>
          <p:nvPr/>
        </p:nvSpPr>
        <p:spPr>
          <a:xfrm>
            <a:off x="514350" y="4854178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CS-RAG · DEEP SPACE TECH</a:t>
            </a:r>
            <a:endParaRPr lang="en-US" sz="619" dirty="0"/>
          </a:p>
        </p:txBody>
      </p:sp>
      <p:sp>
        <p:nvSpPr>
          <p:cNvPr id="36" name="Text 33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7721" y="3171968"/>
            <a:ext cx="3270610" cy="0"/>
          </a:xfrm>
          <a:prstGeom prst="line">
            <a:avLst/>
          </a:prstGeom>
          <a:noFill/>
          <a:ln w="7144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7721" y="3407712"/>
            <a:ext cx="3270610" cy="0"/>
          </a:xfrm>
          <a:prstGeom prst="line">
            <a:avLst/>
          </a:prstGeom>
          <a:noFill/>
          <a:ln w="7144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27721" y="3643455"/>
            <a:ext cx="3270610" cy="0"/>
          </a:xfrm>
          <a:prstGeom prst="line">
            <a:avLst/>
          </a:prstGeom>
          <a:noFill/>
          <a:ln w="7144">
            <a:solidFill>
              <a:srgbClr val="1E2A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-771525" y="-1314450"/>
            <a:ext cx="3714750" cy="601973"/>
          </a:xfrm>
          <a:prstGeom prst="roundRect">
            <a:avLst>
              <a:gd name="adj" fmla="val 151901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43100" y="2859398"/>
            <a:ext cx="3714750" cy="601861"/>
          </a:xfrm>
          <a:prstGeom prst="roundRect">
            <a:avLst>
              <a:gd name="adj" fmla="val 151929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559" y="659980"/>
            <a:ext cx="863600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8559" y="820714"/>
            <a:ext cx="8521065" cy="3440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Response Generation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68559" y="1192189"/>
            <a:ext cx="6286500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generator uses a compact open-source chat model with strict prompt engineering.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1274" y="1656153"/>
            <a:ext cx="3563503" cy="826443"/>
          </a:xfrm>
          <a:prstGeom prst="roundRect">
            <a:avLst>
              <a:gd name="adj" fmla="val 1613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7174" y="1762667"/>
            <a:ext cx="554775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1378" y="1816888"/>
            <a:ext cx="31495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706303" y="1825817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627721" y="2020485"/>
            <a:ext cx="3380338" cy="179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25" dirty="0">
                <a:solidFill>
                  <a:srgbClr val="E6EE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TinyLlama-1.1B-Chat-v1.0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627721" y="2227653"/>
            <a:ext cx="3380338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Hugging Face Transformers.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1274" y="2589752"/>
            <a:ext cx="3563503" cy="1389460"/>
          </a:xfrm>
          <a:prstGeom prst="roundRect">
            <a:avLst>
              <a:gd name="adj" fmla="val 9597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4861" y="2681978"/>
            <a:ext cx="1106344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4890" y="2736199"/>
            <a:ext cx="774874" cy="139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5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GENERATION CONFIG</a:t>
            </a:r>
            <a:endParaRPr lang="en-US" sz="619" dirty="0"/>
          </a:p>
        </p:txBody>
      </p:sp>
      <p:sp>
        <p:nvSpPr>
          <p:cNvPr id="19" name="Text 17"/>
          <p:cNvSpPr/>
          <p:nvPr/>
        </p:nvSpPr>
        <p:spPr>
          <a:xfrm>
            <a:off x="706303" y="2745129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627721" y="2989802"/>
            <a:ext cx="192852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191533" y="2989802"/>
            <a:ext cx="142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391558" y="2989802"/>
            <a:ext cx="15067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Deterministic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7721" y="3225546"/>
            <a:ext cx="158199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new tokens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191533" y="3225546"/>
            <a:ext cx="142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91558" y="3225546"/>
            <a:ext cx="15067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7721" y="3461290"/>
            <a:ext cx="176580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Repetition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91533" y="3461290"/>
            <a:ext cx="142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391558" y="3461290"/>
            <a:ext cx="150677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Penalty enabled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7721" y="3697034"/>
            <a:ext cx="17658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input len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91533" y="3697034"/>
            <a:ext cx="14287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391558" y="3697034"/>
            <a:ext cx="1506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2048 tokens</a:t>
            </a:r>
            <a:endParaRPr lang="en-US" sz="8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12" y="1652581"/>
            <a:ext cx="4387490" cy="2330202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4209084" y="1656153"/>
            <a:ext cx="4380347" cy="2323058"/>
          </a:xfrm>
          <a:prstGeom prst="roundRect">
            <a:avLst>
              <a:gd name="adj" fmla="val 5740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369818" y="1828273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406" dirty="0"/>
          </a:p>
        </p:txBody>
      </p:sp>
      <p:sp>
        <p:nvSpPr>
          <p:cNvPr id="35" name="Text 32"/>
          <p:cNvSpPr/>
          <p:nvPr/>
        </p:nvSpPr>
        <p:spPr>
          <a:xfrm>
            <a:off x="4584131" y="1788313"/>
            <a:ext cx="3844565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 Engineering</a:t>
            </a:r>
            <a:endParaRPr lang="en-US" sz="1463" dirty="0"/>
          </a:p>
        </p:txBody>
      </p:sp>
      <p:sp>
        <p:nvSpPr>
          <p:cNvPr id="36" name="Text 33"/>
          <p:cNvSpPr/>
          <p:nvPr/>
        </p:nvSpPr>
        <p:spPr>
          <a:xfrm>
            <a:off x="4369818" y="2053971"/>
            <a:ext cx="4168606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system prompt instructs the model to: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369818" y="230087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8" name="Text 35"/>
          <p:cNvSpPr/>
          <p:nvPr/>
        </p:nvSpPr>
        <p:spPr>
          <a:xfrm>
            <a:off x="4555556" y="2295407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short responses.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4369818" y="249766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0" name="Text 37"/>
          <p:cNvSpPr/>
          <p:nvPr/>
        </p:nvSpPr>
        <p:spPr>
          <a:xfrm>
            <a:off x="4555556" y="2492195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formal email formatting.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4369818" y="2694453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4555556" y="2688983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unnecessary greetings.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4369818" y="2891241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4" name="Text 41"/>
          <p:cNvSpPr/>
          <p:nvPr/>
        </p:nvSpPr>
        <p:spPr>
          <a:xfrm>
            <a:off x="4555556" y="2885771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placeholders.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69818" y="3088029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6" name="Text 43"/>
          <p:cNvSpPr/>
          <p:nvPr/>
        </p:nvSpPr>
        <p:spPr>
          <a:xfrm>
            <a:off x="4555556" y="3082559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Avoid hallucinated customer conversations.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4369818" y="3284817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25" dirty="0">
                <a:solidFill>
                  <a:srgbClr val="34D3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8" name="Text 45"/>
          <p:cNvSpPr/>
          <p:nvPr/>
        </p:nvSpPr>
        <p:spPr>
          <a:xfrm>
            <a:off x="4555556" y="3279347"/>
            <a:ext cx="3873140" cy="14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Ask only one clarification question when necessary.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4369818" y="3657073"/>
            <a:ext cx="4058878" cy="189979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19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makes the generated response more suitable for a real-time customer support chat interface.</a:t>
            </a:r>
            <a:endParaRPr lang="en-US" sz="619" dirty="0"/>
          </a:p>
        </p:txBody>
      </p:sp>
      <p:sp>
        <p:nvSpPr>
          <p:cNvPr id="50" name="Text 47"/>
          <p:cNvSpPr/>
          <p:nvPr/>
        </p:nvSpPr>
        <p:spPr>
          <a:xfrm>
            <a:off x="514350" y="4854178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CS-RAG · DEEP SPACE TECH</a:t>
            </a:r>
            <a:endParaRPr lang="en-US" sz="619" dirty="0"/>
          </a:p>
        </p:txBody>
      </p:sp>
      <p:sp>
        <p:nvSpPr>
          <p:cNvPr id="51" name="Text 48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71525" y="-1314450"/>
            <a:ext cx="3714750" cy="176138"/>
          </a:xfrm>
          <a:prstGeom prst="roundRect">
            <a:avLst>
              <a:gd name="adj" fmla="val 519138"/>
            </a:avLst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943100" y="2433563"/>
            <a:ext cx="3714750" cy="176138"/>
          </a:xfrm>
          <a:prstGeom prst="roundRect">
            <a:avLst>
              <a:gd name="adj" fmla="val 519138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752326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913061"/>
            <a:ext cx="862965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End-to-End Application Flow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1284536"/>
            <a:ext cx="6429375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login to answer — how the complete application handles one user message.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7922" y="1576648"/>
            <a:ext cx="8108156" cy="528638"/>
          </a:xfrm>
          <a:prstGeom prst="roundRect">
            <a:avLst>
              <a:gd name="adj" fmla="val 2162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699208"/>
            <a:ext cx="19057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0081" y="1845655"/>
            <a:ext cx="1918811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96678" y="1708807"/>
            <a:ext cx="1384548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046684" y="1758814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043113" y="1755242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271713" y="1771315"/>
            <a:ext cx="1020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Login / Registration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3456236" y="1765957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27686" y="1692434"/>
            <a:ext cx="1139317" cy="297066"/>
          </a:xfrm>
          <a:prstGeom prst="roundRect">
            <a:avLst>
              <a:gd name="adj" fmla="val 3203152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681264" y="1758814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77692" y="1755242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06292" y="1771315"/>
            <a:ext cx="76784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Authentication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17922" y="2169579"/>
            <a:ext cx="8108156" cy="528638"/>
          </a:xfrm>
          <a:prstGeom prst="roundRect">
            <a:avLst>
              <a:gd name="adj" fmla="val 2162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081" y="2292139"/>
            <a:ext cx="19057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0081" y="2438586"/>
            <a:ext cx="1423321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 Ingest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93106" y="2285365"/>
            <a:ext cx="1239775" cy="297066"/>
          </a:xfrm>
          <a:prstGeom prst="roundRect">
            <a:avLst>
              <a:gd name="adj" fmla="val 3203152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46684" y="2351745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043113" y="2348173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271713" y="2364246"/>
            <a:ext cx="8683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Sends Message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3304319" y="235888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75769" y="2285365"/>
            <a:ext cx="1269243" cy="297066"/>
          </a:xfrm>
          <a:prstGeom prst="roundRect">
            <a:avLst>
              <a:gd name="adj" fmla="val 3203152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529347" y="2351745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525775" y="2348173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754375" y="2364246"/>
            <a:ext cx="8977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Chat Endpoint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4816450" y="235888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91472" y="2301739"/>
            <a:ext cx="1519721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041478" y="2351745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37906" y="2348173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66506" y="2364246"/>
            <a:ext cx="12247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Create or Load Conversation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6586203" y="2358889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761225" y="2301739"/>
            <a:ext cx="1583234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11231" y="2351745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807659" y="2348173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036259" y="2364246"/>
            <a:ext cx="121890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User Message in MySQL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517922" y="2762510"/>
            <a:ext cx="8108156" cy="528638"/>
          </a:xfrm>
          <a:prstGeom prst="roundRect">
            <a:avLst>
              <a:gd name="adj" fmla="val 2162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0081" y="2885070"/>
            <a:ext cx="19057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50081" y="3031517"/>
            <a:ext cx="1423321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Retrieval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996678" y="2894670"/>
            <a:ext cx="1614264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046684" y="2944676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043113" y="2941104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271713" y="2957178"/>
            <a:ext cx="132492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Send Question to RAG Pipeline</a:t>
            </a:r>
            <a:endParaRPr lang="en-US" sz="731" dirty="0"/>
          </a:p>
        </p:txBody>
      </p:sp>
      <p:sp>
        <p:nvSpPr>
          <p:cNvPr id="48" name="Text 46"/>
          <p:cNvSpPr/>
          <p:nvPr/>
        </p:nvSpPr>
        <p:spPr>
          <a:xfrm>
            <a:off x="3685952" y="2951820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60974" y="2894670"/>
            <a:ext cx="2183643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910980" y="2944676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907408" y="2941104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136008" y="2957178"/>
            <a:ext cx="19284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Retrieve Similar Customer Support Examples</a:t>
            </a:r>
            <a:endParaRPr lang="en-US" sz="731" dirty="0"/>
          </a:p>
        </p:txBody>
      </p:sp>
      <p:sp>
        <p:nvSpPr>
          <p:cNvPr id="53" name="Text 51"/>
          <p:cNvSpPr/>
          <p:nvPr/>
        </p:nvSpPr>
        <p:spPr>
          <a:xfrm>
            <a:off x="517922" y="3355442"/>
            <a:ext cx="8108156" cy="528638"/>
          </a:xfrm>
          <a:prstGeom prst="roundRect">
            <a:avLst>
              <a:gd name="adj" fmla="val 2162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50081" y="3478002"/>
            <a:ext cx="19057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0081" y="3624449"/>
            <a:ext cx="1423321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996678" y="3487601"/>
            <a:ext cx="1852017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046684" y="3537607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043113" y="3534035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271713" y="3550109"/>
            <a:ext cx="1576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Generate Response Using TinyLlama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3923705" y="3544751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095155" y="3471228"/>
            <a:ext cx="1167222" cy="297066"/>
          </a:xfrm>
          <a:prstGeom prst="roundRect">
            <a:avLst>
              <a:gd name="adj" fmla="val 3203152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148733" y="3537607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145161" y="3534035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373761" y="3550109"/>
            <a:ext cx="7957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Save Bot Response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517922" y="3948373"/>
            <a:ext cx="8108156" cy="528638"/>
          </a:xfrm>
          <a:prstGeom prst="roundRect">
            <a:avLst>
              <a:gd name="adj" fmla="val 2162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50081" y="4070933"/>
            <a:ext cx="190571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PHASE 05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50081" y="4217380"/>
            <a:ext cx="155448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996678" y="4080532"/>
            <a:ext cx="1440024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2046684" y="4130539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2043113" y="4126967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2271713" y="4143040"/>
            <a:ext cx="10756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Return Answer to Frontend</a:t>
            </a:r>
            <a:endParaRPr lang="en-US" sz="731" dirty="0"/>
          </a:p>
        </p:txBody>
      </p:sp>
      <p:sp>
        <p:nvSpPr>
          <p:cNvPr id="72" name="Text 70"/>
          <p:cNvSpPr/>
          <p:nvPr/>
        </p:nvSpPr>
        <p:spPr>
          <a:xfrm>
            <a:off x="3511711" y="4137682"/>
            <a:ext cx="10001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686733" y="4080532"/>
            <a:ext cx="1916869" cy="264319"/>
          </a:xfrm>
          <a:prstGeom prst="roundRect">
            <a:avLst>
              <a:gd name="adj" fmla="val 3599997"/>
            </a:avLst>
          </a:prstGeom>
          <a:solidFill>
            <a:srgbClr val="131C2E"/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736739" y="4130539"/>
            <a:ext cx="164306" cy="164306"/>
          </a:xfrm>
          <a:prstGeom prst="ellipse">
            <a:avLst/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733167" y="4126967"/>
            <a:ext cx="20002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961767" y="4143040"/>
            <a:ext cx="167674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Can Access Conversation History</a:t>
            </a:r>
            <a:endParaRPr lang="en-US" sz="731" dirty="0"/>
          </a:p>
        </p:txBody>
      </p:sp>
      <p:sp>
        <p:nvSpPr>
          <p:cNvPr id="77" name="Text 75"/>
          <p:cNvSpPr/>
          <p:nvPr/>
        </p:nvSpPr>
        <p:spPr>
          <a:xfrm>
            <a:off x="514350" y="4594882"/>
            <a:ext cx="8115300" cy="175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application connects the AI system directly with the backend conversation management system.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14350" y="4854178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CS-RAG · DEEP SPACE TECH</a:t>
            </a:r>
            <a:endParaRPr lang="en-US" sz="619" dirty="0"/>
          </a:p>
        </p:txBody>
      </p:sp>
      <p:sp>
        <p:nvSpPr>
          <p:cNvPr id="79" name="Text 77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60784"/>
            <a:ext cx="8629650" cy="344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 System Architecture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14350" y="932259"/>
            <a:ext cx="6572250" cy="17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Seven independent layers, from frontend to cloud deployment — designed for maintainability and extensibility.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7922" y="12243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4369" y="13690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96553" y="13029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17984" y="13243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406" dirty="0"/>
          </a:p>
        </p:txBody>
      </p:sp>
      <p:sp>
        <p:nvSpPr>
          <p:cNvPr id="9" name="Text 7"/>
          <p:cNvSpPr/>
          <p:nvPr/>
        </p:nvSpPr>
        <p:spPr>
          <a:xfrm>
            <a:off x="1378744" y="13594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Frontend Application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21831" y="1363675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presentation layer, no sub-components 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68428" y="16351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7922" y="16815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64369" y="18262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996553" y="17601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17984" y="17815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16" name="Text 14"/>
          <p:cNvSpPr/>
          <p:nvPr/>
        </p:nvSpPr>
        <p:spPr>
          <a:xfrm>
            <a:off x="1378744" y="18166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REST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21831" y="1820875"/>
            <a:ext cx="5257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request routing &amp; orchestration —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68428" y="20923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17922" y="21387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4369" y="22834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996553" y="22173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17984" y="22387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23" name="Text 21"/>
          <p:cNvSpPr/>
          <p:nvPr/>
        </p:nvSpPr>
        <p:spPr>
          <a:xfrm>
            <a:off x="1378744" y="22738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Authentication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21831" y="2272717"/>
            <a:ext cx="1044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 Authentication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4129088" y="227271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46959" y="2272717"/>
            <a:ext cx="42326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Hashing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68428" y="25495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7922" y="25959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64369" y="27406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96553" y="26745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017984" y="26959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32" name="Text 30"/>
          <p:cNvSpPr/>
          <p:nvPr/>
        </p:nvSpPr>
        <p:spPr>
          <a:xfrm>
            <a:off x="1378744" y="27310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Services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4123" y="2729917"/>
            <a:ext cx="7119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Service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3850481" y="272991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60645" y="2729917"/>
            <a:ext cx="71193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 Service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4597003" y="272991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14875" y="2729917"/>
            <a:ext cx="11608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 Service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5715000" y="272991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32872" y="2729917"/>
            <a:ext cx="264675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Service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568428" y="30067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049600"/>
            <a:ext cx="8115300" cy="414338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517922" y="3053172"/>
            <a:ext cx="8108156" cy="407194"/>
          </a:xfrm>
          <a:prstGeom prst="roundRect">
            <a:avLst>
              <a:gd name="adj" fmla="val 28070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664369" y="31978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L5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96553" y="31317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8B5CF6">
              <a:alpha val="14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2"/>
          <p:cNvSpPr/>
          <p:nvPr/>
        </p:nvSpPr>
        <p:spPr>
          <a:xfrm>
            <a:off x="1017984" y="31531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406" dirty="0"/>
          </a:p>
        </p:txBody>
      </p:sp>
      <p:sp>
        <p:nvSpPr>
          <p:cNvPr id="46" name="Text 43"/>
          <p:cNvSpPr/>
          <p:nvPr/>
        </p:nvSpPr>
        <p:spPr>
          <a:xfrm>
            <a:off x="1378744" y="31882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AI Service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216324" y="3187117"/>
            <a:ext cx="60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3711178" y="318711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3869977" y="3187117"/>
            <a:ext cx="6086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Generator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4364831" y="3187117"/>
            <a:ext cx="9286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4529138" y="3187117"/>
            <a:ext cx="39504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Processing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4568428" y="34639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517922" y="35103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664369" y="36550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L6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996553" y="35889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1017984" y="36103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57" name="Text 54"/>
          <p:cNvSpPr/>
          <p:nvPr/>
        </p:nvSpPr>
        <p:spPr>
          <a:xfrm>
            <a:off x="1378744" y="36454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3221831" y="3644317"/>
            <a:ext cx="81260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 Database</a:t>
            </a:r>
            <a:endParaRPr lang="en-US" sz="731" dirty="0"/>
          </a:p>
        </p:txBody>
      </p:sp>
      <p:sp>
        <p:nvSpPr>
          <p:cNvPr id="59" name="Text 56"/>
          <p:cNvSpPr/>
          <p:nvPr/>
        </p:nvSpPr>
        <p:spPr>
          <a:xfrm>
            <a:off x="3943350" y="3644317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4061222" y="3644317"/>
            <a:ext cx="44184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FAISS Vector Index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4568428" y="3921137"/>
            <a:ext cx="7144" cy="42863"/>
          </a:xfrm>
          <a:prstGeom prst="rect">
            <a:avLst/>
          </a:prstGeom>
          <a:solidFill>
            <a:srgbClr val="4FD1FF">
              <a:alpha val="2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517922" y="3967572"/>
            <a:ext cx="8108156" cy="407194"/>
          </a:xfrm>
          <a:prstGeom prst="roundRect">
            <a:avLst>
              <a:gd name="adj" fmla="val 28070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0"/>
          <p:cNvSpPr/>
          <p:nvPr/>
        </p:nvSpPr>
        <p:spPr>
          <a:xfrm>
            <a:off x="664369" y="4112233"/>
            <a:ext cx="3200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L7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996553" y="4046153"/>
            <a:ext cx="250031" cy="250031"/>
          </a:xfrm>
          <a:prstGeom prst="roundRect">
            <a:avLst>
              <a:gd name="adj" fmla="val 38095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1017984" y="406758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406" dirty="0"/>
          </a:p>
        </p:txBody>
      </p:sp>
      <p:sp>
        <p:nvSpPr>
          <p:cNvPr id="66" name="Text 63"/>
          <p:cNvSpPr/>
          <p:nvPr/>
        </p:nvSpPr>
        <p:spPr>
          <a:xfrm>
            <a:off x="1378744" y="4102633"/>
            <a:ext cx="21431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Deployment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3221831" y="4101517"/>
            <a:ext cx="52578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 App Service</a:t>
            </a:r>
            <a:endParaRPr lang="en-US" sz="800" dirty="0"/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0" y="4478350"/>
            <a:ext cx="8115300" cy="334305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517922" y="4481922"/>
            <a:ext cx="8108156" cy="327161"/>
          </a:xfrm>
          <a:prstGeom prst="roundRect">
            <a:avLst>
              <a:gd name="adj" fmla="val 40760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6"/>
          <p:cNvSpPr/>
          <p:nvPr/>
        </p:nvSpPr>
        <p:spPr>
          <a:xfrm>
            <a:off x="678656" y="4571219"/>
            <a:ext cx="778668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800" i="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architecture separates the application into independent layers, making the system easier to maintain and extend.</a:t>
            </a:r>
            <a:endParaRPr lang="en-US" sz="800" dirty="0"/>
          </a:p>
        </p:txBody>
      </p:sp>
      <p:sp>
        <p:nvSpPr>
          <p:cNvPr id="71" name="Text 67"/>
          <p:cNvSpPr/>
          <p:nvPr/>
        </p:nvSpPr>
        <p:spPr>
          <a:xfrm>
            <a:off x="514350" y="4854178"/>
            <a:ext cx="1370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CS-RAG · DEEP SPACE TECH</a:t>
            </a:r>
            <a:endParaRPr lang="en-US" sz="619" dirty="0"/>
          </a:p>
        </p:txBody>
      </p:sp>
      <p:sp>
        <p:nvSpPr>
          <p:cNvPr id="72" name="Text 68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714500"/>
            <a:ext cx="3714750" cy="3714750"/>
          </a:xfrm>
          <a:prstGeom prst="ellipse">
            <a:avLst/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— IMPLEMENTATION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89359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Architecture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975122"/>
            <a:ext cx="7000875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+ SQLAlchemy + MySQL, secured with JWT and bcrypt, organized in a layered design pattern.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307306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50081" y="14251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2481417" y="1415320"/>
            <a:ext cx="546336" cy="184023"/>
          </a:xfrm>
          <a:prstGeom prst="roundRect">
            <a:avLst>
              <a:gd name="adj" fmla="val 5170807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439483" y="1425178"/>
            <a:ext cx="63020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0081" y="1682353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650081" y="1918097"/>
            <a:ext cx="23574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Provides REST API endpoints for the frontend application.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3261122" y="1307306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93281" y="14251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5273722" y="1415320"/>
            <a:ext cx="495343" cy="184023"/>
          </a:xfrm>
          <a:prstGeom prst="roundRect">
            <a:avLst>
              <a:gd name="adj" fmla="val 5170807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43456" y="1425178"/>
            <a:ext cx="55587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93281" y="1682353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SQLAlchemy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393281" y="1918097"/>
            <a:ext cx="2357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Handles communication between the application and the relational database.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004322" y="1307306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136481" y="14251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8065910" y="1415320"/>
            <a:ext cx="444471" cy="184023"/>
          </a:xfrm>
          <a:prstGeom prst="roundRect">
            <a:avLst>
              <a:gd name="adj" fmla="val 5170807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047374" y="1425178"/>
            <a:ext cx="48154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kern="0" spc="90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STORES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36481" y="1682353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MySQL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136481" y="1918097"/>
            <a:ext cx="246716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· Conversations · Messages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7922" y="2436019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50081" y="255389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50081" y="2811066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JWT Authentication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650081" y="3046809"/>
            <a:ext cx="2357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Protects application endpoints and identifies authenticated users.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61122" y="2436019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93281" y="255389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688" dirty="0"/>
          </a:p>
        </p:txBody>
      </p:sp>
      <p:sp>
        <p:nvSpPr>
          <p:cNvPr id="31" name="Text 29"/>
          <p:cNvSpPr/>
          <p:nvPr/>
        </p:nvSpPr>
        <p:spPr>
          <a:xfrm>
            <a:off x="3393281" y="2811066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bcrypt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3393281" y="3046809"/>
            <a:ext cx="2357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Hashes user passwords before storing them in the database.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04322" y="2436019"/>
            <a:ext cx="2621756" cy="1007269"/>
          </a:xfrm>
          <a:prstGeom prst="roundRect">
            <a:avLst>
              <a:gd name="adj" fmla="val 13239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36481" y="2553891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35" name="Text 33"/>
          <p:cNvSpPr/>
          <p:nvPr/>
        </p:nvSpPr>
        <p:spPr>
          <a:xfrm>
            <a:off x="6136481" y="2811066"/>
            <a:ext cx="2357438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Layered Design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136481" y="3046809"/>
            <a:ext cx="2357438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Separation of concerns across routers, services, repos, models, DB.</a:t>
            </a:r>
            <a:endParaRPr lang="en-US" sz="80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3575447"/>
            <a:ext cx="8115300" cy="687921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517922" y="3579019"/>
            <a:ext cx="8108156" cy="680777"/>
          </a:xfrm>
          <a:prstGeom prst="roundRect">
            <a:avLst>
              <a:gd name="adj" fmla="val 19588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78656" y="3750469"/>
            <a:ext cx="39826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 DESIGN PATTERN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718447" y="3684089"/>
            <a:ext cx="510778" cy="250631"/>
          </a:xfrm>
          <a:prstGeom prst="roundRect">
            <a:avLst>
              <a:gd name="adj" fmla="val 22802"/>
            </a:avLst>
          </a:prstGeom>
          <a:solidFill>
            <a:srgbClr val="0B1220">
              <a:alpha val="55000"/>
            </a:srgbClr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718447" y="3696891"/>
            <a:ext cx="510778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Routers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286375" y="372368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5457825" y="3684089"/>
            <a:ext cx="557213" cy="250631"/>
          </a:xfrm>
          <a:prstGeom prst="roundRect">
            <a:avLst>
              <a:gd name="adj" fmla="val 22802"/>
            </a:avLst>
          </a:prstGeom>
          <a:solidFill>
            <a:srgbClr val="0B1220">
              <a:alpha val="55000"/>
            </a:srgbClr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5457825" y="3696891"/>
            <a:ext cx="55721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072188" y="372368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43638" y="3684089"/>
            <a:ext cx="742950" cy="250631"/>
          </a:xfrm>
          <a:prstGeom prst="roundRect">
            <a:avLst>
              <a:gd name="adj" fmla="val 22802"/>
            </a:avLst>
          </a:prstGeom>
          <a:solidFill>
            <a:srgbClr val="0B1220">
              <a:alpha val="55000"/>
            </a:srgbClr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6217288" y="3696891"/>
            <a:ext cx="795650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Repositories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7043738" y="372368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7215188" y="3684089"/>
            <a:ext cx="464344" cy="250631"/>
          </a:xfrm>
          <a:prstGeom prst="roundRect">
            <a:avLst>
              <a:gd name="adj" fmla="val 22802"/>
            </a:avLst>
          </a:prstGeom>
          <a:solidFill>
            <a:srgbClr val="0B1220">
              <a:alpha val="55000"/>
            </a:srgbClr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7215188" y="3696891"/>
            <a:ext cx="464344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736681" y="3723680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7908131" y="3684089"/>
            <a:ext cx="557213" cy="250631"/>
          </a:xfrm>
          <a:prstGeom prst="roundRect">
            <a:avLst>
              <a:gd name="adj" fmla="val 22802"/>
            </a:avLst>
          </a:prstGeom>
          <a:solidFill>
            <a:srgbClr val="0B1220">
              <a:alpha val="55000"/>
            </a:srgbClr>
          </a:solidFill>
          <a:ln w="7144">
            <a:solidFill>
              <a:srgbClr val="E6EEF8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7908131" y="3696891"/>
            <a:ext cx="557213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78656" y="3993356"/>
            <a:ext cx="7786688" cy="14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This layered architecture improves maintainability and separation of concerns.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56" name="Text 53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714500"/>
            <a:ext cx="3714750" cy="3714750"/>
          </a:xfrm>
          <a:prstGeom prst="ellipse">
            <a:avLst/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— DEPLOYMENT &amp; 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89359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Cloud Deployment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975122"/>
            <a:ext cx="71437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RAG service was exposed as a REST API and deployed using Azure App Service.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307306"/>
            <a:ext cx="4667213" cy="1507331"/>
          </a:xfrm>
          <a:prstGeom prst="roundRect">
            <a:avLst>
              <a:gd name="adj" fmla="val 8847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8656" y="1439466"/>
            <a:ext cx="4345744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CAPABILITIES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1614488"/>
            <a:ext cx="43457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 Endpoints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78656" y="1896023"/>
            <a:ext cx="275034" cy="212027"/>
          </a:xfrm>
          <a:prstGeom prst="roundRect">
            <a:avLst>
              <a:gd name="adj" fmla="val 26954"/>
            </a:avLst>
          </a:prstGeom>
          <a:solidFill>
            <a:srgbClr val="34D399">
              <a:alpha val="12000"/>
            </a:srgbClr>
          </a:solidFill>
          <a:ln w="7144">
            <a:solidFill>
              <a:srgbClr val="34D399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8656" y="1907381"/>
            <a:ext cx="27503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31664" y="1921669"/>
            <a:ext cx="46356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39416" y="2071688"/>
            <a:ext cx="398498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Health Check Endpoint — verify that the deployed service is running.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8656" y="2291358"/>
            <a:ext cx="4345744" cy="7144"/>
          </a:xfrm>
          <a:prstGeom prst="rect">
            <a:avLst/>
          </a:prstGeom>
          <a:solidFill>
            <a:srgbClr val="E6EEF8">
              <a:alpha val="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8656" y="2372868"/>
            <a:ext cx="314325" cy="212027"/>
          </a:xfrm>
          <a:prstGeom prst="roundRect">
            <a:avLst>
              <a:gd name="adj" fmla="val 26954"/>
            </a:avLst>
          </a:prstGeom>
          <a:solidFill>
            <a:srgbClr val="8B5CF6">
              <a:alpha val="16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9378" y="2384227"/>
            <a:ext cx="3328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0121" y="2398514"/>
            <a:ext cx="40121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/query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706" y="2548533"/>
            <a:ext cx="394569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 Endpoint — receives customer questions and returns AI-generated responses.</a:t>
            </a:r>
            <a:endParaRPr lang="en-US" sz="703" dirty="0"/>
          </a:p>
        </p:txBody>
      </p:sp>
      <p:sp>
        <p:nvSpPr>
          <p:cNvPr id="19" name="Text 17"/>
          <p:cNvSpPr/>
          <p:nvPr/>
        </p:nvSpPr>
        <p:spPr>
          <a:xfrm>
            <a:off x="517922" y="2936081"/>
            <a:ext cx="4667213" cy="1645295"/>
          </a:xfrm>
          <a:prstGeom prst="roundRect">
            <a:avLst>
              <a:gd name="adj" fmla="val 810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8656" y="3068241"/>
            <a:ext cx="4455472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BENEFITS OF CLOUD DEPLOYMENT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8656" y="3243263"/>
            <a:ext cx="43457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Azure App Service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678656" y="3521869"/>
            <a:ext cx="4345744" cy="104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Remote access to the AI service.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Integration with frontend and backend applications.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Centralized service deployment.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Easier application testing.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450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Foundation for future scaling and monitoring.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751960" y="237072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4500" dirty="0">
              <a:solidFill>
                <a:srgbClr val="4FD1FF"/>
              </a:solidFill>
              <a:latin typeface="Segoe UI Symbol"/>
              <a:ea typeface="Segoe UI Symbol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32" name="Text 29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2325291"/>
            <a:ext cx="0" cy="414338"/>
          </a:xfrm>
          <a:prstGeom prst="line">
            <a:avLst/>
          </a:prstGeom>
          <a:noFill/>
          <a:ln w="14288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800600" y="2464594"/>
            <a:ext cx="0" cy="414338"/>
          </a:xfrm>
          <a:prstGeom prst="line">
            <a:avLst/>
          </a:prstGeom>
          <a:noFill/>
          <a:ln w="14288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4164806"/>
            <a:ext cx="0" cy="275034"/>
          </a:xfrm>
          <a:prstGeom prst="line">
            <a:avLst/>
          </a:prstGeom>
          <a:noFill/>
          <a:ln w="14288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00600" y="4164806"/>
            <a:ext cx="0" cy="414338"/>
          </a:xfrm>
          <a:prstGeom prst="line">
            <a:avLst/>
          </a:prstGeom>
          <a:noFill/>
          <a:ln w="14288">
            <a:solidFill>
              <a:srgbClr val="4FD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— DEPLOYMENT &amp; EVALUATION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589359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Challenges We Addressed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514350" y="975122"/>
            <a:ext cx="71437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core engineering challenges and the solutions we shipped.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517922" y="1293019"/>
            <a:ext cx="3993356" cy="1718072"/>
          </a:xfrm>
          <a:prstGeom prst="roundRect">
            <a:avLst>
              <a:gd name="adj" fmla="val 776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7568" y="1413820"/>
            <a:ext cx="951212" cy="212027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171" y="1419737"/>
            <a:ext cx="799678" cy="2110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78656" y="1685925"/>
            <a:ext cx="378161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Efficient Knowledge Retrieval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678656" y="1964531"/>
            <a:ext cx="36718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78656" y="2100263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Searching directly through thousands of customer support conversations is inefficient.</a:t>
            </a:r>
            <a:endParaRPr lang="en-US" sz="731" dirty="0"/>
          </a:p>
        </p:txBody>
      </p:sp>
      <p:sp>
        <p:nvSpPr>
          <p:cNvPr id="17" name="Text 15"/>
          <p:cNvSpPr/>
          <p:nvPr/>
        </p:nvSpPr>
        <p:spPr>
          <a:xfrm>
            <a:off x="778669" y="2325291"/>
            <a:ext cx="357187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8669" y="2461022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 and SVD are used to create vector representations, while FAISS provides efficient similarity search.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32722" y="1293019"/>
            <a:ext cx="3993356" cy="1718072"/>
          </a:xfrm>
          <a:prstGeom prst="roundRect">
            <a:avLst>
              <a:gd name="adj" fmla="val 776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70596" y="1419262"/>
            <a:ext cx="826026" cy="217470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05541" y="1419736"/>
            <a:ext cx="745251" cy="2110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793456" y="1685925"/>
            <a:ext cx="378161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Generating Suitable Chat Responses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4793456" y="1964531"/>
            <a:ext cx="36718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93456" y="2100263"/>
            <a:ext cx="3671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Language models may generate long responses, formal emails, placeholders, or unwanted dialogue.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93469" y="2464594"/>
            <a:ext cx="357187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93469" y="2600325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Prompt engineering and a custom response post-processing pipeline were implemented.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7922" y="3132534"/>
            <a:ext cx="3993356" cy="1578769"/>
          </a:xfrm>
          <a:prstGeom prst="roundRect">
            <a:avLst>
              <a:gd name="adj" fmla="val 8446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55796" y="3253335"/>
            <a:ext cx="902225" cy="201141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084" y="3264694"/>
            <a:ext cx="88676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03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78656" y="3525441"/>
            <a:ext cx="378161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Connecting AI with the Application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678656" y="3804047"/>
            <a:ext cx="36718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78656" y="3939778"/>
            <a:ext cx="367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AI system needs to communicate with users, conversations, and the database.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778669" y="4164806"/>
            <a:ext cx="357187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78669" y="4300538"/>
            <a:ext cx="3571875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RAG pipeline was integrated into the FastAPI backend through the Chat Service.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4632722" y="3132534"/>
            <a:ext cx="3993356" cy="1578769"/>
          </a:xfrm>
          <a:prstGeom prst="roundRect">
            <a:avLst>
              <a:gd name="adj" fmla="val 8446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0596" y="3253335"/>
            <a:ext cx="836912" cy="222913"/>
          </a:xfrm>
          <a:prstGeom prst="roundRect">
            <a:avLst>
              <a:gd name="adj" fmla="val 4487860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83769" y="3259252"/>
            <a:ext cx="810565" cy="2110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kern="0" spc="50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CHALLENGE 04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93456" y="3525441"/>
            <a:ext cx="3781616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Maintaining Conversation History</a:t>
            </a:r>
            <a:endParaRPr lang="en-US" sz="1013" dirty="0"/>
          </a:p>
        </p:txBody>
      </p:sp>
      <p:sp>
        <p:nvSpPr>
          <p:cNvPr id="39" name="Text 37"/>
          <p:cNvSpPr/>
          <p:nvPr/>
        </p:nvSpPr>
        <p:spPr>
          <a:xfrm>
            <a:off x="4793456" y="3804047"/>
            <a:ext cx="3671888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93456" y="3939778"/>
            <a:ext cx="3781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 need to access previous conversations.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93469" y="4164806"/>
            <a:ext cx="3571875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13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93469" y="4300538"/>
            <a:ext cx="35718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Conversations and messages are stored in MySQL using SQLAlchemy models and repository layers.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10175" y="3896916"/>
            <a:ext cx="2940881" cy="0"/>
          </a:xfrm>
          <a:prstGeom prst="line">
            <a:avLst/>
          </a:prstGeom>
          <a:noFill/>
          <a:ln w="7144">
            <a:solidFill>
              <a:srgbClr val="FBBF2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-1285875" y="-1714500"/>
            <a:ext cx="3714750" cy="3714750"/>
          </a:xfrm>
          <a:prstGeom prst="ellipse">
            <a:avLst/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— DEPLOYMENT &amp; EVALUATION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589359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Current Project Results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14350" y="975122"/>
            <a:ext cx="71437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works today, and what quantitative evaluation is still pending.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517922" y="1307306"/>
            <a:ext cx="4667213" cy="3136106"/>
          </a:xfrm>
          <a:prstGeom prst="roundRect">
            <a:avLst>
              <a:gd name="adj" fmla="val 425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92944" y="1468041"/>
            <a:ext cx="4317169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FUNCTIONAL RESULTS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92944" y="1643063"/>
            <a:ext cx="4426897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Demonstrated Capabilities</a:t>
            </a:r>
            <a:endParaRPr lang="en-US" sz="1463" dirty="0"/>
          </a:p>
        </p:txBody>
      </p:sp>
      <p:sp>
        <p:nvSpPr>
          <p:cNvPr id="11" name="Text 9"/>
          <p:cNvSpPr/>
          <p:nvPr/>
        </p:nvSpPr>
        <p:spPr>
          <a:xfrm>
            <a:off x="692944" y="1994446"/>
            <a:ext cx="4317169" cy="1831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A complete retrieval pipeline.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Vector similarity search using FAISS.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Response generation using TinyLlama.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Response post-processing.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Integration between the RAG pipeline and FastAPI backend.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Secure user authentication.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Persistent conversation history.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Cloud API deployment.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582" y="1303734"/>
            <a:ext cx="3298068" cy="314325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335153" y="1307306"/>
            <a:ext cx="3290925" cy="3136106"/>
          </a:xfrm>
          <a:prstGeom prst="roundRect">
            <a:avLst>
              <a:gd name="adj" fmla="val 4252"/>
            </a:avLst>
          </a:prstGeom>
          <a:noFill/>
          <a:ln w="7144">
            <a:solidFill>
              <a:srgbClr val="FBBF2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510175" y="1468041"/>
            <a:ext cx="3050609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EVALUATION STATUS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510175" y="1643063"/>
            <a:ext cx="3050609" cy="240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Quantitative Metrics — Pending</a:t>
            </a:r>
            <a:endParaRPr lang="en-US" sz="1463" dirty="0"/>
          </a:p>
        </p:txBody>
      </p:sp>
      <p:sp>
        <p:nvSpPr>
          <p:cNvPr id="16" name="Text 13"/>
          <p:cNvSpPr/>
          <p:nvPr/>
        </p:nvSpPr>
        <p:spPr>
          <a:xfrm>
            <a:off x="5510175" y="1965871"/>
            <a:ext cx="2940881" cy="33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current project files do not provide verified quantitative evaluation results for: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510175" y="2353642"/>
            <a:ext cx="2940881" cy="1142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BLEU.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ROUGE.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Retrieval Precision / Recall.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Response latency benchmarks.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563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Customer satisfaction improvement.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10175" y="4014788"/>
            <a:ext cx="2940881" cy="267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i="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Therefore, the project results are currently demonstrated primarily through functional system testing and application integration.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20" name="Text 17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714500"/>
            <a:ext cx="3714750" cy="3714750"/>
          </a:xfrm>
          <a:prstGeom prst="ellipse">
            <a:avLst/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— DEPLOYMENT &amp; EVALUATION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89359"/>
            <a:ext cx="8521065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Limitations &amp; Future Work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975122"/>
            <a:ext cx="714375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the system stands today, and the roadmap to take it further.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307306"/>
            <a:ext cx="3290813" cy="3136106"/>
          </a:xfrm>
          <a:prstGeom prst="roundRect">
            <a:avLst>
              <a:gd name="adj" fmla="val 4252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2944" y="1468041"/>
            <a:ext cx="2940769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LIMITATIONS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92944" y="1643063"/>
            <a:ext cx="2940769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We Stand</a:t>
            </a:r>
            <a:endParaRPr lang="en-US" sz="1463" dirty="0"/>
          </a:p>
        </p:txBody>
      </p:sp>
      <p:sp>
        <p:nvSpPr>
          <p:cNvPr id="10" name="Text 8"/>
          <p:cNvSpPr/>
          <p:nvPr/>
        </p:nvSpPr>
        <p:spPr>
          <a:xfrm>
            <a:off x="692944" y="1994446"/>
            <a:ext cx="2940769" cy="19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Retrieval is based on TF-IDF and SVD instead of modern neural embeddings.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The generator uses a relatively small language model.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Retrieved documents are used mainly as a response reference rather than full grounded context.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No verified automated RAG evaluation pipeline.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No implemented automated retraining pipeline in the provided application files.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675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− Limited production monitoring capabilities.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182" y="1303734"/>
            <a:ext cx="4674468" cy="31432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958754" y="1307306"/>
            <a:ext cx="4667324" cy="3136106"/>
          </a:xfrm>
          <a:prstGeom prst="roundRect">
            <a:avLst>
              <a:gd name="adj" fmla="val 4252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133776" y="1468041"/>
            <a:ext cx="4317281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IMPROVEMENTS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33776" y="1643063"/>
            <a:ext cx="4317281" cy="24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4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1463" dirty="0"/>
          </a:p>
        </p:txBody>
      </p:sp>
      <p:sp>
        <p:nvSpPr>
          <p:cNvPr id="15" name="Text 12"/>
          <p:cNvSpPr/>
          <p:nvPr/>
        </p:nvSpPr>
        <p:spPr>
          <a:xfrm>
            <a:off x="4133776" y="1965871"/>
            <a:ext cx="43172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RETRIEVAL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33776" y="2115889"/>
            <a:ext cx="4317281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Replace TF-IDF retrieval with Sentence Transformers.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Evaluate different embedding models.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prompt grounding using multiple retrieved documents.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33776" y="2691185"/>
            <a:ext cx="43172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 &amp; OPS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33776" y="2841203"/>
            <a:ext cx="4317281" cy="938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Retrieval Precision, Recall, MRR, and Hit Rate evaluation.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RAG response evaluation.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 MLflow experiment tracking.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application and model monitoring.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user feedback collection.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133776" y="3771454"/>
            <a:ext cx="4317281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124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133776" y="3921472"/>
            <a:ext cx="4317281" cy="56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 automated knowledge base updates.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 CI/CD pipelines.</a:t>
            </a:r>
            <a:endParaRPr lang="en-US" sz="900" dirty="0"/>
          </a:p>
          <a:p>
            <a:pPr marL="342900" indent="-342900" algn="l">
              <a:lnSpc>
                <a:spcPts val="1350"/>
              </a:lnSpc>
              <a:spcAft>
                <a:spcPts val="338"/>
              </a:spcAft>
              <a:buSzPct val="100000"/>
              <a:buChar char="•"/>
            </a:pPr>
            <a:r>
              <a:rPr lang="en-US" sz="9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Improve Azure scalability and deployment architecture.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85875" y="-1714500"/>
            <a:ext cx="3714750" cy="3714750"/>
          </a:xfrm>
          <a:prstGeom prst="ellipse">
            <a:avLst/>
          </a:prstGeom>
          <a:solidFill>
            <a:srgbClr val="4FD1FF">
              <a:alpha val="17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0" y="3286125"/>
            <a:ext cx="3714750" cy="3714750"/>
          </a:xfrm>
          <a:prstGeom prst="ellipse">
            <a:avLst/>
          </a:prstGeom>
          <a:solidFill>
            <a:srgbClr val="8B5CF6">
              <a:alpha val="18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400050"/>
            <a:ext cx="862965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11" dirty="0">
                <a:solidFill>
                  <a:srgbClr val="4FD1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— CONCLUSION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14350" y="589359"/>
            <a:ext cx="8629650" cy="35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8"/>
              </a:lnSpc>
              <a:buNone/>
            </a:pPr>
            <a:r>
              <a:rPr lang="en-US" sz="2250" kern="0" spc="-3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514350" y="975122"/>
            <a:ext cx="71437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developed a full-stack intelligent Customer Support Chatbot that combines six engineering pillars into one integrated system.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17922" y="1273373"/>
            <a:ext cx="1273932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69107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607219" y="1605558"/>
            <a:ext cx="10953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Information Retrieval</a:t>
            </a:r>
            <a:endParaRPr lang="en-US" sz="731" dirty="0"/>
          </a:p>
        </p:txBody>
      </p:sp>
      <p:sp>
        <p:nvSpPr>
          <p:cNvPr id="10" name="Text 8"/>
          <p:cNvSpPr/>
          <p:nvPr/>
        </p:nvSpPr>
        <p:spPr>
          <a:xfrm>
            <a:off x="1884722" y="1273373"/>
            <a:ext cx="1273932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435907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1974019" y="1605558"/>
            <a:ext cx="10953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Vector 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51522" y="1273373"/>
            <a:ext cx="1273932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802707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688" dirty="0"/>
          </a:p>
        </p:txBody>
      </p:sp>
      <p:sp>
        <p:nvSpPr>
          <p:cNvPr id="15" name="Text 13"/>
          <p:cNvSpPr/>
          <p:nvPr/>
        </p:nvSpPr>
        <p:spPr>
          <a:xfrm>
            <a:off x="3340819" y="1605558"/>
            <a:ext cx="10953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Large Language Models</a:t>
            </a:r>
            <a:endParaRPr lang="en-US" sz="731" dirty="0"/>
          </a:p>
        </p:txBody>
      </p:sp>
      <p:sp>
        <p:nvSpPr>
          <p:cNvPr id="16" name="Text 14"/>
          <p:cNvSpPr/>
          <p:nvPr/>
        </p:nvSpPr>
        <p:spPr>
          <a:xfrm>
            <a:off x="4618323" y="1273373"/>
            <a:ext cx="1274043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69619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4707620" y="1605558"/>
            <a:ext cx="1095449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Backend Application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985235" y="1273373"/>
            <a:ext cx="1273932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36420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688" dirty="0"/>
          </a:p>
        </p:txBody>
      </p:sp>
      <p:sp>
        <p:nvSpPr>
          <p:cNvPr id="21" name="Text 19"/>
          <p:cNvSpPr/>
          <p:nvPr/>
        </p:nvSpPr>
        <p:spPr>
          <a:xfrm>
            <a:off x="6074532" y="1605558"/>
            <a:ext cx="10953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731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Database Management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7352035" y="1273373"/>
            <a:ext cx="1273932" cy="556431"/>
          </a:xfrm>
          <a:prstGeom prst="roundRect">
            <a:avLst>
              <a:gd name="adj" fmla="val 23965"/>
            </a:avLst>
          </a:prstGeom>
          <a:solidFill>
            <a:srgbClr val="111A2E"/>
          </a:solidFill>
          <a:ln w="7144">
            <a:solidFill>
              <a:srgbClr val="1E2A44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903220" y="137695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7441332" y="1605558"/>
            <a:ext cx="1095338" cy="120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51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 Deployment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57734" y="1919101"/>
            <a:ext cx="6828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project demonstrates how Retrieval-Augmented Generation can be integrated into a complete software application to create an intelligent customer support system.</a:t>
            </a:r>
            <a:endParaRPr lang="en-US" sz="731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72705"/>
            <a:ext cx="8115300" cy="3750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17922" y="2176276"/>
            <a:ext cx="8108156" cy="367903"/>
          </a:xfrm>
          <a:prstGeom prst="roundRect">
            <a:avLst>
              <a:gd name="adj" fmla="val 36246"/>
            </a:avLst>
          </a:prstGeom>
          <a:noFill/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78656" y="2301292"/>
            <a:ext cx="78466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DEMO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1288107" y="2281647"/>
            <a:ext cx="7144" cy="157163"/>
          </a:xfrm>
          <a:prstGeom prst="rect">
            <a:avLst/>
          </a:prstGeom>
          <a:solidFill>
            <a:srgbClr val="E6EEF8">
              <a:alpha val="16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1409551" y="2287898"/>
            <a:ext cx="380940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707803" y="227986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2" name="Text 29"/>
          <p:cNvSpPr/>
          <p:nvPr/>
        </p:nvSpPr>
        <p:spPr>
          <a:xfrm>
            <a:off x="1872109" y="2287898"/>
            <a:ext cx="1017256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Conversation</a:t>
            </a:r>
            <a:endParaRPr lang="en-US" sz="759" dirty="0"/>
          </a:p>
        </p:txBody>
      </p:sp>
      <p:sp>
        <p:nvSpPr>
          <p:cNvPr id="33" name="Text 30"/>
          <p:cNvSpPr/>
          <p:nvPr/>
        </p:nvSpPr>
        <p:spPr>
          <a:xfrm>
            <a:off x="2797225" y="227986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4" name="Text 31"/>
          <p:cNvSpPr/>
          <p:nvPr/>
        </p:nvSpPr>
        <p:spPr>
          <a:xfrm>
            <a:off x="2930959" y="2287898"/>
            <a:ext cx="739314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Question</a:t>
            </a:r>
            <a:endParaRPr lang="en-US" sz="759" dirty="0"/>
          </a:p>
        </p:txBody>
      </p:sp>
      <p:sp>
        <p:nvSpPr>
          <p:cNvPr id="35" name="Text 32"/>
          <p:cNvSpPr/>
          <p:nvPr/>
        </p:nvSpPr>
        <p:spPr>
          <a:xfrm>
            <a:off x="3597325" y="227986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6" name="Text 33"/>
          <p:cNvSpPr/>
          <p:nvPr/>
        </p:nvSpPr>
        <p:spPr>
          <a:xfrm>
            <a:off x="3718348" y="2287898"/>
            <a:ext cx="821250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 Retrieval</a:t>
            </a:r>
            <a:endParaRPr lang="en-US" sz="759" dirty="0"/>
          </a:p>
        </p:txBody>
      </p:sp>
      <p:sp>
        <p:nvSpPr>
          <p:cNvPr id="37" name="Text 34"/>
          <p:cNvSpPr/>
          <p:nvPr/>
        </p:nvSpPr>
        <p:spPr>
          <a:xfrm>
            <a:off x="4445645" y="227986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38" name="Text 35"/>
          <p:cNvSpPr/>
          <p:nvPr/>
        </p:nvSpPr>
        <p:spPr>
          <a:xfrm>
            <a:off x="4575020" y="2287898"/>
            <a:ext cx="691518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Response</a:t>
            </a:r>
            <a:endParaRPr lang="en-US" sz="759" dirty="0"/>
          </a:p>
        </p:txBody>
      </p:sp>
      <p:sp>
        <p:nvSpPr>
          <p:cNvPr id="39" name="Text 36"/>
          <p:cNvSpPr/>
          <p:nvPr/>
        </p:nvSpPr>
        <p:spPr>
          <a:xfrm>
            <a:off x="5197525" y="2279861"/>
            <a:ext cx="1071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4" dirty="0">
                <a:solidFill>
                  <a:srgbClr val="4FD1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44" dirty="0"/>
          </a:p>
        </p:txBody>
      </p:sp>
      <p:sp>
        <p:nvSpPr>
          <p:cNvPr id="40" name="Text 37"/>
          <p:cNvSpPr/>
          <p:nvPr/>
        </p:nvSpPr>
        <p:spPr>
          <a:xfrm>
            <a:off x="5361831" y="2287898"/>
            <a:ext cx="3103513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E6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Conversation History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651774" y="2704914"/>
            <a:ext cx="2330371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2"/>
              </a:lnSpc>
              <a:buNone/>
            </a:pPr>
            <a:r>
              <a:rPr lang="en-US" sz="3150" b="1" kern="0" spc="-63" dirty="0">
                <a:solidFill>
                  <a:srgbClr val="E6EEF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42" name="Text 39"/>
          <p:cNvSpPr/>
          <p:nvPr/>
        </p:nvSpPr>
        <p:spPr>
          <a:xfrm>
            <a:off x="4286250" y="3208325"/>
            <a:ext cx="571500" cy="21431"/>
          </a:xfrm>
          <a:prstGeom prst="roundRect">
            <a:avLst>
              <a:gd name="adj" fmla="val 88890"/>
            </a:avLst>
          </a:prstGeom>
          <a:solidFill>
            <a:srgbClr val="4FD1FF"/>
          </a:solidFill>
          <a:ln/>
          <a:effectLst>
            <a:outerShdw blurRad="114300" dist="50800" dir="16200000" algn="bl" rotWithShape="0">
              <a:srgbClr val="4FD1FF">
                <a:alpha val="3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130449" y="3316967"/>
            <a:ext cx="882990" cy="264919"/>
          </a:xfrm>
          <a:prstGeom prst="roundRect">
            <a:avLst>
              <a:gd name="adj" fmla="val 3591843"/>
            </a:avLst>
          </a:prstGeom>
          <a:solidFill>
            <a:srgbClr val="4FD1FF">
              <a:alpha val="12000"/>
            </a:srgbClr>
          </a:solidFill>
          <a:ln w="7144">
            <a:solidFill>
              <a:srgbClr val="4FD1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4153309" y="3329769"/>
            <a:ext cx="837270" cy="2393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97"/>
              </a:lnSpc>
              <a:buNone/>
            </a:pPr>
            <a:r>
              <a:rPr lang="en-US" sz="800" kern="0" spc="102" dirty="0">
                <a:solidFill>
                  <a:srgbClr val="4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Questions?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14350" y="4854178"/>
            <a:ext cx="187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619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CUSTOMER SUPPORT RAG CHATBOT · 2025</a:t>
            </a:r>
            <a:endParaRPr lang="en-US" sz="619" dirty="0"/>
          </a:p>
        </p:txBody>
      </p:sp>
      <p:sp>
        <p:nvSpPr>
          <p:cNvPr id="46" name="Text 43"/>
          <p:cNvSpPr/>
          <p:nvPr/>
        </p:nvSpPr>
        <p:spPr>
          <a:xfrm>
            <a:off x="8288536" y="48541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74" dirty="0">
                <a:solidFill>
                  <a:srgbClr val="64748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3929</Words>
  <Application>Microsoft Office PowerPoint</Application>
  <PresentationFormat>On-screen Show (16:9)</PresentationFormat>
  <Paragraphs>644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Khaled Wadood</cp:lastModifiedBy>
  <cp:revision>27</cp:revision>
  <dcterms:created xsi:type="dcterms:W3CDTF">2026-07-10T13:55:41Z</dcterms:created>
  <dcterms:modified xsi:type="dcterms:W3CDTF">2026-07-10T22:30:29Z</dcterms:modified>
</cp:coreProperties>
</file>